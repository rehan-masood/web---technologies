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0" r:id="rId7"/>
    <p:sldId id="279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1" r:id="rId23"/>
    <p:sldId id="278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meen Jana" userId="40d10783f043fa0a" providerId="LiveId" clId="{2D2D7309-2F80-45B2-B959-8D9BC28A87B3}"/>
    <pc:docChg chg="custSel modSld">
      <pc:chgData name="Yasmeen Jana" userId="40d10783f043fa0a" providerId="LiveId" clId="{2D2D7309-2F80-45B2-B959-8D9BC28A87B3}" dt="2025-03-03T01:27:30.589" v="43" actId="113"/>
      <pc:docMkLst>
        <pc:docMk/>
      </pc:docMkLst>
      <pc:sldChg chg="modSp mod">
        <pc:chgData name="Yasmeen Jana" userId="40d10783f043fa0a" providerId="LiveId" clId="{2D2D7309-2F80-45B2-B959-8D9BC28A87B3}" dt="2025-03-03T01:17:29.869" v="3" actId="113"/>
        <pc:sldMkLst>
          <pc:docMk/>
          <pc:sldMk cId="0" sldId="258"/>
        </pc:sldMkLst>
        <pc:spChg chg="mod">
          <ac:chgData name="Yasmeen Jana" userId="40d10783f043fa0a" providerId="LiveId" clId="{2D2D7309-2F80-45B2-B959-8D9BC28A87B3}" dt="2025-03-03T01:17:29.869" v="3" actId="113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Yasmeen Jana" userId="40d10783f043fa0a" providerId="LiveId" clId="{2D2D7309-2F80-45B2-B959-8D9BC28A87B3}" dt="2025-03-03T01:20:56.923" v="9" actId="113"/>
        <pc:sldMkLst>
          <pc:docMk/>
          <pc:sldMk cId="0" sldId="263"/>
        </pc:sldMkLst>
        <pc:spChg chg="mod">
          <ac:chgData name="Yasmeen Jana" userId="40d10783f043fa0a" providerId="LiveId" clId="{2D2D7309-2F80-45B2-B959-8D9BC28A87B3}" dt="2025-03-03T01:20:56.923" v="9" actId="113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Yasmeen Jana" userId="40d10783f043fa0a" providerId="LiveId" clId="{2D2D7309-2F80-45B2-B959-8D9BC28A87B3}" dt="2025-03-03T01:25:20.774" v="29" actId="14100"/>
        <pc:sldMkLst>
          <pc:docMk/>
          <pc:sldMk cId="0" sldId="264"/>
        </pc:sldMkLst>
        <pc:spChg chg="mod">
          <ac:chgData name="Yasmeen Jana" userId="40d10783f043fa0a" providerId="LiveId" clId="{2D2D7309-2F80-45B2-B959-8D9BC28A87B3}" dt="2025-03-03T01:24:19.671" v="21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Yasmeen Jana" userId="40d10783f043fa0a" providerId="LiveId" clId="{2D2D7309-2F80-45B2-B959-8D9BC28A87B3}" dt="2025-03-03T01:25:20.774" v="29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Yasmeen Jana" userId="40d10783f043fa0a" providerId="LiveId" clId="{2D2D7309-2F80-45B2-B959-8D9BC28A87B3}" dt="2025-03-03T01:25:13.847" v="28" actId="14100"/>
          <ac:spMkLst>
            <pc:docMk/>
            <pc:sldMk cId="0" sldId="264"/>
            <ac:spMk id="5" creationId="{00000000-0000-0000-0000-000000000000}"/>
          </ac:spMkLst>
        </pc:spChg>
        <pc:spChg chg="mod">
          <ac:chgData name="Yasmeen Jana" userId="40d10783f043fa0a" providerId="LiveId" clId="{2D2D7309-2F80-45B2-B959-8D9BC28A87B3}" dt="2025-03-03T01:24:56.311" v="24" actId="113"/>
          <ac:spMkLst>
            <pc:docMk/>
            <pc:sldMk cId="0" sldId="264"/>
            <ac:spMk id="6" creationId="{00000000-0000-0000-0000-000000000000}"/>
          </ac:spMkLst>
        </pc:spChg>
      </pc:sldChg>
      <pc:sldChg chg="modSp mod">
        <pc:chgData name="Yasmeen Jana" userId="40d10783f043fa0a" providerId="LiveId" clId="{2D2D7309-2F80-45B2-B959-8D9BC28A87B3}" dt="2025-03-03T01:27:30.589" v="43" actId="113"/>
        <pc:sldMkLst>
          <pc:docMk/>
          <pc:sldMk cId="0" sldId="266"/>
        </pc:sldMkLst>
        <pc:graphicFrameChg chg="modGraphic">
          <ac:chgData name="Yasmeen Jana" userId="40d10783f043fa0a" providerId="LiveId" clId="{2D2D7309-2F80-45B2-B959-8D9BC28A87B3}" dt="2025-03-03T01:27:30.589" v="43" actId="113"/>
          <ac:graphicFrameMkLst>
            <pc:docMk/>
            <pc:sldMk cId="0" sldId="266"/>
            <ac:graphicFrameMk id="3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518236"/>
            <a:ext cx="8860155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7990" y="1684401"/>
            <a:ext cx="11398250" cy="403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8552" y="2022326"/>
            <a:ext cx="7923530" cy="1958975"/>
          </a:xfrm>
          <a:prstGeom prst="rect">
            <a:avLst/>
          </a:prstGeom>
        </p:spPr>
        <p:txBody>
          <a:bodyPr vert="horz" wrap="square" lIns="0" tIns="479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75"/>
              </a:spcBef>
            </a:pPr>
            <a:r>
              <a:rPr sz="6000" spc="-20" dirty="0">
                <a:solidFill>
                  <a:srgbClr val="FFFFFF"/>
                </a:solidFill>
                <a:latin typeface="Calibri Light"/>
                <a:cs typeface="Calibri Light"/>
              </a:rPr>
              <a:t>CSC336</a:t>
            </a:r>
            <a:r>
              <a:rPr sz="6000" spc="-29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6000" spc="-60" dirty="0">
                <a:solidFill>
                  <a:srgbClr val="FFFFFF"/>
                </a:solidFill>
                <a:latin typeface="Calibri Light"/>
                <a:cs typeface="Calibri Light"/>
              </a:rPr>
              <a:t>Web</a:t>
            </a:r>
            <a:r>
              <a:rPr sz="6000" spc="-2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6000" spc="-575" dirty="0">
                <a:solidFill>
                  <a:srgbClr val="FFFFFF"/>
                </a:solidFill>
                <a:latin typeface="Calibri Light"/>
                <a:cs typeface="Calibri Light"/>
              </a:rPr>
              <a:t>T</a:t>
            </a:r>
            <a:r>
              <a:rPr sz="6000" spc="-30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6000" spc="-35" dirty="0">
                <a:solidFill>
                  <a:srgbClr val="FFFFFF"/>
                </a:solidFill>
                <a:latin typeface="Calibri Light"/>
                <a:cs typeface="Calibri Light"/>
              </a:rPr>
              <a:t>c</a:t>
            </a:r>
            <a:r>
              <a:rPr sz="6000" spc="-50" dirty="0">
                <a:solidFill>
                  <a:srgbClr val="FFFFFF"/>
                </a:solidFill>
                <a:latin typeface="Calibri Light"/>
                <a:cs typeface="Calibri Light"/>
              </a:rPr>
              <a:t>hn</a:t>
            </a:r>
            <a:r>
              <a:rPr sz="6000" spc="-35" dirty="0">
                <a:solidFill>
                  <a:srgbClr val="FFFFFF"/>
                </a:solidFill>
                <a:latin typeface="Calibri Light"/>
                <a:cs typeface="Calibri Light"/>
              </a:rPr>
              <a:t>o</a:t>
            </a:r>
            <a:r>
              <a:rPr sz="6000" spc="-25" dirty="0">
                <a:solidFill>
                  <a:srgbClr val="FFFFFF"/>
                </a:solidFill>
                <a:latin typeface="Calibri Light"/>
                <a:cs typeface="Calibri Light"/>
              </a:rPr>
              <a:t>l</a:t>
            </a:r>
            <a:r>
              <a:rPr sz="6000" spc="-50" dirty="0">
                <a:solidFill>
                  <a:srgbClr val="FFFFFF"/>
                </a:solidFill>
                <a:latin typeface="Calibri Light"/>
                <a:cs typeface="Calibri Light"/>
              </a:rPr>
              <a:t>o</a:t>
            </a:r>
            <a:r>
              <a:rPr sz="6000" spc="-45" dirty="0">
                <a:solidFill>
                  <a:srgbClr val="FFFFFF"/>
                </a:solidFill>
                <a:latin typeface="Calibri Light"/>
                <a:cs typeface="Calibri Light"/>
              </a:rPr>
              <a:t>g</a:t>
            </a:r>
            <a:r>
              <a:rPr sz="6000" spc="-25" dirty="0">
                <a:solidFill>
                  <a:srgbClr val="FFFFFF"/>
                </a:solidFill>
                <a:latin typeface="Calibri Light"/>
                <a:cs typeface="Calibri Light"/>
              </a:rPr>
              <a:t>i</a:t>
            </a:r>
            <a:r>
              <a:rPr sz="6000" spc="-40" dirty="0">
                <a:solidFill>
                  <a:srgbClr val="FFFFFF"/>
                </a:solidFill>
                <a:latin typeface="Calibri Light"/>
                <a:cs typeface="Calibri Light"/>
              </a:rPr>
              <a:t>e</a:t>
            </a:r>
            <a:r>
              <a:rPr sz="6000" spc="10" dirty="0">
                <a:solidFill>
                  <a:srgbClr val="FFFFFF"/>
                </a:solidFill>
                <a:latin typeface="Calibri Light"/>
                <a:cs typeface="Calibri Light"/>
              </a:rPr>
              <a:t>s</a:t>
            </a:r>
            <a:endParaRPr sz="6000">
              <a:latin typeface="Calibri Light"/>
              <a:cs typeface="Calibri Light"/>
            </a:endParaRPr>
          </a:p>
          <a:p>
            <a:pPr marR="440690" algn="ctr">
              <a:lnSpc>
                <a:spcPct val="100000"/>
              </a:lnSpc>
              <a:spcBef>
                <a:spcPts val="147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Credit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Hours: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3(2,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1)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815585" y="1130045"/>
            <a:ext cx="25393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Calibri"/>
                <a:cs typeface="Calibri"/>
              </a:rPr>
              <a:t>Lecture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#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31258" y="2272411"/>
            <a:ext cx="2180590" cy="177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500" b="1" spc="-25" dirty="0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1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CSS</a:t>
            </a:r>
            <a:r>
              <a:rPr spc="-155" dirty="0"/>
              <a:t> </a:t>
            </a:r>
            <a:r>
              <a:rPr spc="-4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10244455" cy="328295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dirty="0">
                <a:solidFill>
                  <a:srgbClr val="F1F1F1"/>
                </a:solidFill>
                <a:latin typeface="Calibri"/>
                <a:cs typeface="Calibri"/>
              </a:rPr>
              <a:t>What</a:t>
            </a:r>
            <a:r>
              <a:rPr sz="2800" spc="-5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1F1F1"/>
                </a:solidFill>
                <a:latin typeface="Calibri"/>
                <a:cs typeface="Calibri"/>
              </a:rPr>
              <a:t>is</a:t>
            </a:r>
            <a:r>
              <a:rPr sz="2800" spc="-6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1F1F1"/>
                </a:solidFill>
                <a:latin typeface="Calibri"/>
                <a:cs typeface="Calibri"/>
              </a:rPr>
              <a:t>CSS?</a:t>
            </a:r>
            <a:endParaRPr sz="28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F1F1F1"/>
                </a:solidFill>
                <a:latin typeface="Calibri"/>
                <a:cs typeface="Calibri"/>
              </a:rPr>
              <a:t>CSS</a:t>
            </a:r>
            <a:r>
              <a:rPr sz="2800" spc="-3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1F1F1"/>
                </a:solidFill>
                <a:latin typeface="Calibri"/>
                <a:cs typeface="Calibri"/>
              </a:rPr>
              <a:t>is</a:t>
            </a:r>
            <a:r>
              <a:rPr sz="2800" spc="-4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1F1F1"/>
                </a:solidFill>
                <a:latin typeface="Calibri"/>
                <a:cs typeface="Calibri"/>
              </a:rPr>
              <a:t>the</a:t>
            </a:r>
            <a:r>
              <a:rPr sz="2800" spc="-4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1F1F1"/>
                </a:solidFill>
                <a:latin typeface="Calibri"/>
                <a:cs typeface="Calibri"/>
              </a:rPr>
              <a:t>language</a:t>
            </a:r>
            <a:r>
              <a:rPr sz="2800" spc="-3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1F1F1"/>
                </a:solidFill>
                <a:latin typeface="Calibri"/>
                <a:cs typeface="Calibri"/>
              </a:rPr>
              <a:t>we</a:t>
            </a:r>
            <a:r>
              <a:rPr sz="2800" spc="-4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1F1F1"/>
                </a:solidFill>
                <a:latin typeface="Calibri"/>
                <a:cs typeface="Calibri"/>
              </a:rPr>
              <a:t>use</a:t>
            </a:r>
            <a:r>
              <a:rPr sz="2800" spc="-2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1F1F1"/>
                </a:solidFill>
                <a:latin typeface="Calibri"/>
                <a:cs typeface="Calibri"/>
              </a:rPr>
              <a:t>to</a:t>
            </a:r>
            <a:r>
              <a:rPr sz="2800" spc="-4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1F1F1"/>
                </a:solidFill>
                <a:latin typeface="Calibri"/>
                <a:cs typeface="Calibri"/>
              </a:rPr>
              <a:t>style</a:t>
            </a:r>
            <a:r>
              <a:rPr sz="2800" spc="-2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1F1F1"/>
                </a:solidFill>
                <a:latin typeface="Calibri"/>
                <a:cs typeface="Calibri"/>
              </a:rPr>
              <a:t>a</a:t>
            </a:r>
            <a:r>
              <a:rPr sz="2800" spc="-5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1F1F1"/>
                </a:solidFill>
                <a:latin typeface="Calibri"/>
                <a:cs typeface="Calibri"/>
              </a:rPr>
              <a:t>Web</a:t>
            </a:r>
            <a:r>
              <a:rPr sz="2800" spc="-2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1F1F1"/>
                </a:solidFill>
                <a:latin typeface="Calibri"/>
                <a:cs typeface="Calibri"/>
              </a:rPr>
              <a:t>page.</a:t>
            </a:r>
            <a:endParaRPr sz="28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29"/>
              </a:spcBef>
              <a:buFont typeface="Wingdings"/>
              <a:buChar char=""/>
              <a:tabLst>
                <a:tab pos="697865" algn="l"/>
              </a:tabLst>
            </a:pP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CSS</a:t>
            </a:r>
            <a:r>
              <a:rPr sz="2400" spc="-9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stands</a:t>
            </a:r>
            <a:r>
              <a:rPr sz="2400" spc="-6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for</a:t>
            </a:r>
            <a:r>
              <a:rPr sz="2400" spc="-6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1F1F1"/>
                </a:solidFill>
                <a:latin typeface="Calibri"/>
                <a:cs typeface="Calibri"/>
              </a:rPr>
              <a:t>Cascading</a:t>
            </a:r>
            <a:r>
              <a:rPr sz="2400" b="1" spc="-7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1F1F1"/>
                </a:solidFill>
                <a:latin typeface="Calibri"/>
                <a:cs typeface="Calibri"/>
              </a:rPr>
              <a:t>Style</a:t>
            </a:r>
            <a:r>
              <a:rPr sz="2400" b="1" spc="-5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1F1F1"/>
                </a:solidFill>
                <a:latin typeface="Calibri"/>
                <a:cs typeface="Calibri"/>
              </a:rPr>
              <a:t>Sheets</a:t>
            </a:r>
            <a:endParaRPr sz="2400" dirty="0">
              <a:latin typeface="Calibri"/>
              <a:cs typeface="Calibri"/>
            </a:endParaRPr>
          </a:p>
          <a:p>
            <a:pPr marL="698500" marR="5080" lvl="1" indent="-228600">
              <a:lnSpc>
                <a:spcPts val="2590"/>
              </a:lnSpc>
              <a:spcBef>
                <a:spcPts val="545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CSS</a:t>
            </a:r>
            <a:r>
              <a:rPr sz="2400" spc="-8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describes</a:t>
            </a:r>
            <a:r>
              <a:rPr sz="2400" spc="-6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how</a:t>
            </a:r>
            <a:r>
              <a:rPr sz="2400" spc="-5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1F1F1"/>
                </a:solidFill>
                <a:latin typeface="Calibri"/>
                <a:cs typeface="Calibri"/>
              </a:rPr>
              <a:t>HTML</a:t>
            </a:r>
            <a:r>
              <a:rPr sz="2400" b="1" spc="-6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1F1F1"/>
                </a:solidFill>
                <a:latin typeface="Calibri"/>
                <a:cs typeface="Calibri"/>
              </a:rPr>
              <a:t>elements</a:t>
            </a:r>
            <a:r>
              <a:rPr sz="2400" b="1" spc="-7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are</a:t>
            </a:r>
            <a:r>
              <a:rPr sz="2400" spc="-5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to</a:t>
            </a:r>
            <a:r>
              <a:rPr sz="2400" spc="-6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1F1F1"/>
                </a:solidFill>
                <a:latin typeface="Calibri"/>
                <a:cs typeface="Calibri"/>
              </a:rPr>
              <a:t>be</a:t>
            </a:r>
            <a:r>
              <a:rPr sz="2400" b="1" spc="-5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1F1F1"/>
                </a:solidFill>
                <a:latin typeface="Calibri"/>
                <a:cs typeface="Calibri"/>
              </a:rPr>
              <a:t>displayed</a:t>
            </a:r>
            <a:r>
              <a:rPr sz="2400" b="1" spc="-6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on</a:t>
            </a:r>
            <a:r>
              <a:rPr sz="2400" spc="-6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screen,</a:t>
            </a:r>
            <a:r>
              <a:rPr sz="2400" spc="-5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F1F1F1"/>
                </a:solidFill>
                <a:latin typeface="Calibri"/>
                <a:cs typeface="Calibri"/>
              </a:rPr>
              <a:t>paper,</a:t>
            </a:r>
            <a:r>
              <a:rPr sz="2400" spc="-5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or</a:t>
            </a:r>
            <a:r>
              <a:rPr sz="2400" spc="-7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1F1F1"/>
                </a:solidFill>
                <a:latin typeface="Calibri"/>
                <a:cs typeface="Calibri"/>
              </a:rPr>
              <a:t>in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other</a:t>
            </a:r>
            <a:r>
              <a:rPr sz="2400" spc="-4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1F1F1"/>
                </a:solidFill>
                <a:latin typeface="Calibri"/>
                <a:cs typeface="Calibri"/>
              </a:rPr>
              <a:t>media</a:t>
            </a:r>
            <a:endParaRPr sz="2400" dirty="0">
              <a:latin typeface="Calibri"/>
              <a:cs typeface="Calibri"/>
            </a:endParaRPr>
          </a:p>
          <a:p>
            <a:pPr marL="698500" marR="183515" lvl="1" indent="-228600">
              <a:lnSpc>
                <a:spcPts val="2590"/>
              </a:lnSpc>
              <a:spcBef>
                <a:spcPts val="509"/>
              </a:spcBef>
              <a:buFont typeface="Wingdings"/>
              <a:buChar char=""/>
              <a:tabLst>
                <a:tab pos="698500" algn="l"/>
              </a:tabLst>
            </a:pP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CSS</a:t>
            </a:r>
            <a:r>
              <a:rPr sz="2400" spc="-7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saves</a:t>
            </a:r>
            <a:r>
              <a:rPr sz="2400" spc="-3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a</a:t>
            </a:r>
            <a:r>
              <a:rPr sz="2400" spc="-5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lot</a:t>
            </a:r>
            <a:r>
              <a:rPr sz="2400" spc="-4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of</a:t>
            </a:r>
            <a:r>
              <a:rPr sz="2400" spc="-4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work.</a:t>
            </a:r>
            <a:r>
              <a:rPr sz="2400" spc="-6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It</a:t>
            </a:r>
            <a:r>
              <a:rPr sz="2400" spc="-4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can</a:t>
            </a:r>
            <a:r>
              <a:rPr sz="2400" spc="-5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control</a:t>
            </a:r>
            <a:r>
              <a:rPr sz="2400" spc="-4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1F1F1"/>
                </a:solidFill>
                <a:latin typeface="Calibri"/>
                <a:cs typeface="Calibri"/>
              </a:rPr>
              <a:t>layout</a:t>
            </a:r>
            <a:r>
              <a:rPr sz="2400" spc="-5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multiple</a:t>
            </a:r>
            <a:r>
              <a:rPr sz="2400" spc="-4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1F1F1"/>
                </a:solidFill>
                <a:latin typeface="Calibri"/>
                <a:cs typeface="Calibri"/>
              </a:rPr>
              <a:t>web</a:t>
            </a:r>
            <a:r>
              <a:rPr sz="2400" b="1" spc="-4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1F1F1"/>
                </a:solidFill>
                <a:latin typeface="Calibri"/>
                <a:cs typeface="Calibri"/>
              </a:rPr>
              <a:t>pages</a:t>
            </a:r>
            <a:r>
              <a:rPr sz="2400" b="1" spc="-4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1F1F1"/>
                </a:solidFill>
                <a:latin typeface="Calibri"/>
                <a:cs typeface="Calibri"/>
              </a:rPr>
              <a:t>all</a:t>
            </a:r>
            <a:r>
              <a:rPr sz="2400" b="1" spc="-5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1F1F1"/>
                </a:solidFill>
                <a:latin typeface="Calibri"/>
                <a:cs typeface="Calibri"/>
              </a:rPr>
              <a:t>at </a:t>
            </a:r>
            <a:r>
              <a:rPr sz="2400" b="1" spc="-20" dirty="0">
                <a:solidFill>
                  <a:srgbClr val="F1F1F1"/>
                </a:solidFill>
                <a:latin typeface="Calibri"/>
                <a:cs typeface="Calibri"/>
              </a:rPr>
              <a:t>once</a:t>
            </a:r>
            <a:endParaRPr sz="2400" b="1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170"/>
              </a:spcBef>
              <a:buFont typeface="Wingdings"/>
              <a:buChar char=""/>
              <a:tabLst>
                <a:tab pos="697865" algn="l"/>
              </a:tabLst>
            </a:pP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External</a:t>
            </a:r>
            <a:r>
              <a:rPr sz="2400" spc="-7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stylesheets</a:t>
            </a:r>
            <a:r>
              <a:rPr sz="2400" spc="-8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are</a:t>
            </a:r>
            <a:r>
              <a:rPr sz="2400" spc="-5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stored</a:t>
            </a:r>
            <a:r>
              <a:rPr sz="2400" spc="-6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in</a:t>
            </a:r>
            <a:r>
              <a:rPr sz="2400" spc="-75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1F1F1"/>
                </a:solidFill>
                <a:latin typeface="Calibri"/>
                <a:cs typeface="Calibri"/>
              </a:rPr>
              <a:t>CSS</a:t>
            </a:r>
            <a:r>
              <a:rPr sz="2400" spc="-7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1F1F1"/>
                </a:solidFill>
                <a:latin typeface="Calibri"/>
                <a:cs typeface="Calibri"/>
              </a:rPr>
              <a:t>files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0788" y="2793873"/>
            <a:ext cx="4483100" cy="2658745"/>
            <a:chOff x="820788" y="2793873"/>
            <a:chExt cx="4483100" cy="2658745"/>
          </a:xfrm>
        </p:grpSpPr>
        <p:sp>
          <p:nvSpPr>
            <p:cNvPr id="3" name="object 3"/>
            <p:cNvSpPr/>
            <p:nvPr/>
          </p:nvSpPr>
          <p:spPr>
            <a:xfrm>
              <a:off x="838200" y="3280409"/>
              <a:ext cx="4465320" cy="2171700"/>
            </a:xfrm>
            <a:custGeom>
              <a:avLst/>
              <a:gdLst/>
              <a:ahLst/>
              <a:cxnLst/>
              <a:rect l="l" t="t" r="r" b="b"/>
              <a:pathLst>
                <a:path w="4465320" h="2171700">
                  <a:moveTo>
                    <a:pt x="4465320" y="300990"/>
                  </a:moveTo>
                  <a:lnTo>
                    <a:pt x="4461370" y="252171"/>
                  </a:lnTo>
                  <a:lnTo>
                    <a:pt x="4449965" y="205854"/>
                  </a:lnTo>
                  <a:lnTo>
                    <a:pt x="4431716" y="162674"/>
                  </a:lnTo>
                  <a:lnTo>
                    <a:pt x="4407243" y="123228"/>
                  </a:lnTo>
                  <a:lnTo>
                    <a:pt x="4377156" y="88163"/>
                  </a:lnTo>
                  <a:lnTo>
                    <a:pt x="4342092" y="58077"/>
                  </a:lnTo>
                  <a:lnTo>
                    <a:pt x="4302645" y="33604"/>
                  </a:lnTo>
                  <a:lnTo>
                    <a:pt x="4259465" y="15354"/>
                  </a:lnTo>
                  <a:lnTo>
                    <a:pt x="4213149" y="3949"/>
                  </a:lnTo>
                  <a:lnTo>
                    <a:pt x="4164330" y="0"/>
                  </a:lnTo>
                  <a:lnTo>
                    <a:pt x="958723" y="0"/>
                  </a:lnTo>
                  <a:lnTo>
                    <a:pt x="909891" y="3949"/>
                  </a:lnTo>
                  <a:lnTo>
                    <a:pt x="863574" y="15354"/>
                  </a:lnTo>
                  <a:lnTo>
                    <a:pt x="820394" y="33604"/>
                  </a:lnTo>
                  <a:lnTo>
                    <a:pt x="780948" y="58077"/>
                  </a:lnTo>
                  <a:lnTo>
                    <a:pt x="745883" y="88163"/>
                  </a:lnTo>
                  <a:lnTo>
                    <a:pt x="715797" y="123228"/>
                  </a:lnTo>
                  <a:lnTo>
                    <a:pt x="691324" y="162674"/>
                  </a:lnTo>
                  <a:lnTo>
                    <a:pt x="673074" y="205854"/>
                  </a:lnTo>
                  <a:lnTo>
                    <a:pt x="661670" y="252171"/>
                  </a:lnTo>
                  <a:lnTo>
                    <a:pt x="657733" y="300990"/>
                  </a:lnTo>
                  <a:lnTo>
                    <a:pt x="657733" y="684784"/>
                  </a:lnTo>
                  <a:lnTo>
                    <a:pt x="247815" y="684784"/>
                  </a:lnTo>
                  <a:lnTo>
                    <a:pt x="197866" y="689825"/>
                  </a:lnTo>
                  <a:lnTo>
                    <a:pt x="151345" y="704278"/>
                  </a:lnTo>
                  <a:lnTo>
                    <a:pt x="109245" y="727125"/>
                  </a:lnTo>
                  <a:lnTo>
                    <a:pt x="72580" y="757402"/>
                  </a:lnTo>
                  <a:lnTo>
                    <a:pt x="42316" y="794092"/>
                  </a:lnTo>
                  <a:lnTo>
                    <a:pt x="19469" y="836206"/>
                  </a:lnTo>
                  <a:lnTo>
                    <a:pt x="5029" y="882738"/>
                  </a:lnTo>
                  <a:lnTo>
                    <a:pt x="0" y="932688"/>
                  </a:lnTo>
                  <a:lnTo>
                    <a:pt x="0" y="1923923"/>
                  </a:lnTo>
                  <a:lnTo>
                    <a:pt x="5029" y="1973846"/>
                  </a:lnTo>
                  <a:lnTo>
                    <a:pt x="19469" y="2020354"/>
                  </a:lnTo>
                  <a:lnTo>
                    <a:pt x="42316" y="2062429"/>
                  </a:lnTo>
                  <a:lnTo>
                    <a:pt x="72580" y="2099106"/>
                  </a:lnTo>
                  <a:lnTo>
                    <a:pt x="109245" y="2129371"/>
                  </a:lnTo>
                  <a:lnTo>
                    <a:pt x="151345" y="2152231"/>
                  </a:lnTo>
                  <a:lnTo>
                    <a:pt x="197866" y="2166670"/>
                  </a:lnTo>
                  <a:lnTo>
                    <a:pt x="247815" y="2171700"/>
                  </a:lnTo>
                  <a:lnTo>
                    <a:pt x="4217543" y="2171700"/>
                  </a:lnTo>
                  <a:lnTo>
                    <a:pt x="4267454" y="2166670"/>
                  </a:lnTo>
                  <a:lnTo>
                    <a:pt x="4313961" y="2152231"/>
                  </a:lnTo>
                  <a:lnTo>
                    <a:pt x="4356036" y="2129371"/>
                  </a:lnTo>
                  <a:lnTo>
                    <a:pt x="4392714" y="2099106"/>
                  </a:lnTo>
                  <a:lnTo>
                    <a:pt x="4422978" y="2062429"/>
                  </a:lnTo>
                  <a:lnTo>
                    <a:pt x="4445838" y="2020354"/>
                  </a:lnTo>
                  <a:lnTo>
                    <a:pt x="4460278" y="1973846"/>
                  </a:lnTo>
                  <a:lnTo>
                    <a:pt x="4465320" y="1923923"/>
                  </a:lnTo>
                  <a:lnTo>
                    <a:pt x="4465320" y="1505077"/>
                  </a:lnTo>
                  <a:lnTo>
                    <a:pt x="4465320" y="932688"/>
                  </a:lnTo>
                  <a:lnTo>
                    <a:pt x="4465320" y="300990"/>
                  </a:lnTo>
                  <a:close/>
                </a:path>
              </a:pathLst>
            </a:custGeom>
            <a:solidFill>
              <a:srgbClr val="C5DF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54145" y="2798572"/>
              <a:ext cx="135255" cy="481965"/>
            </a:xfrm>
            <a:custGeom>
              <a:avLst/>
              <a:gdLst/>
              <a:ahLst/>
              <a:cxnLst/>
              <a:rect l="l" t="t" r="r" b="b"/>
              <a:pathLst>
                <a:path w="135254" h="481964">
                  <a:moveTo>
                    <a:pt x="0" y="359790"/>
                  </a:moveTo>
                  <a:lnTo>
                    <a:pt x="38100" y="481838"/>
                  </a:lnTo>
                  <a:lnTo>
                    <a:pt x="103624" y="390905"/>
                  </a:lnTo>
                  <a:lnTo>
                    <a:pt x="72136" y="390905"/>
                  </a:lnTo>
                  <a:lnTo>
                    <a:pt x="34543" y="384810"/>
                  </a:lnTo>
                  <a:lnTo>
                    <a:pt x="37615" y="365933"/>
                  </a:lnTo>
                  <a:lnTo>
                    <a:pt x="0" y="359790"/>
                  </a:lnTo>
                  <a:close/>
                </a:path>
                <a:path w="135254" h="481964">
                  <a:moveTo>
                    <a:pt x="37615" y="365933"/>
                  </a:moveTo>
                  <a:lnTo>
                    <a:pt x="34543" y="384810"/>
                  </a:lnTo>
                  <a:lnTo>
                    <a:pt x="72136" y="390905"/>
                  </a:lnTo>
                  <a:lnTo>
                    <a:pt x="75200" y="372070"/>
                  </a:lnTo>
                  <a:lnTo>
                    <a:pt x="37615" y="365933"/>
                  </a:lnTo>
                  <a:close/>
                </a:path>
                <a:path w="135254" h="481964">
                  <a:moveTo>
                    <a:pt x="75200" y="372070"/>
                  </a:moveTo>
                  <a:lnTo>
                    <a:pt x="72136" y="390905"/>
                  </a:lnTo>
                  <a:lnTo>
                    <a:pt x="103624" y="390905"/>
                  </a:lnTo>
                  <a:lnTo>
                    <a:pt x="112775" y="378205"/>
                  </a:lnTo>
                  <a:lnTo>
                    <a:pt x="75200" y="372070"/>
                  </a:lnTo>
                  <a:close/>
                </a:path>
                <a:path w="135254" h="481964">
                  <a:moveTo>
                    <a:pt x="97154" y="0"/>
                  </a:moveTo>
                  <a:lnTo>
                    <a:pt x="37615" y="365933"/>
                  </a:lnTo>
                  <a:lnTo>
                    <a:pt x="75200" y="372070"/>
                  </a:lnTo>
                  <a:lnTo>
                    <a:pt x="134746" y="6095"/>
                  </a:lnTo>
                  <a:lnTo>
                    <a:pt x="97154" y="0"/>
                  </a:lnTo>
                  <a:close/>
                </a:path>
              </a:pathLst>
            </a:custGeom>
            <a:solidFill>
              <a:srgbClr val="A9D1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8199" y="3280410"/>
              <a:ext cx="567690" cy="571500"/>
            </a:xfrm>
            <a:custGeom>
              <a:avLst/>
              <a:gdLst/>
              <a:ahLst/>
              <a:cxnLst/>
              <a:rect l="l" t="t" r="r" b="b"/>
              <a:pathLst>
                <a:path w="567690" h="571500">
                  <a:moveTo>
                    <a:pt x="473075" y="0"/>
                  </a:moveTo>
                  <a:lnTo>
                    <a:pt x="94615" y="0"/>
                  </a:lnTo>
                  <a:lnTo>
                    <a:pt x="57789" y="7443"/>
                  </a:lnTo>
                  <a:lnTo>
                    <a:pt x="27714" y="27733"/>
                  </a:lnTo>
                  <a:lnTo>
                    <a:pt x="7436" y="57810"/>
                  </a:lnTo>
                  <a:lnTo>
                    <a:pt x="0" y="94614"/>
                  </a:lnTo>
                  <a:lnTo>
                    <a:pt x="0" y="476884"/>
                  </a:lnTo>
                  <a:lnTo>
                    <a:pt x="7436" y="513689"/>
                  </a:lnTo>
                  <a:lnTo>
                    <a:pt x="27714" y="543766"/>
                  </a:lnTo>
                  <a:lnTo>
                    <a:pt x="57789" y="564056"/>
                  </a:lnTo>
                  <a:lnTo>
                    <a:pt x="94615" y="571500"/>
                  </a:lnTo>
                  <a:lnTo>
                    <a:pt x="473075" y="571500"/>
                  </a:lnTo>
                  <a:lnTo>
                    <a:pt x="509879" y="564056"/>
                  </a:lnTo>
                  <a:lnTo>
                    <a:pt x="539956" y="543766"/>
                  </a:lnTo>
                  <a:lnTo>
                    <a:pt x="560246" y="513689"/>
                  </a:lnTo>
                  <a:lnTo>
                    <a:pt x="567690" y="476884"/>
                  </a:lnTo>
                  <a:lnTo>
                    <a:pt x="567690" y="94614"/>
                  </a:lnTo>
                  <a:lnTo>
                    <a:pt x="560246" y="57810"/>
                  </a:lnTo>
                  <a:lnTo>
                    <a:pt x="539956" y="27733"/>
                  </a:lnTo>
                  <a:lnTo>
                    <a:pt x="509879" y="7443"/>
                  </a:lnTo>
                  <a:lnTo>
                    <a:pt x="473075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0788" y="2793873"/>
              <a:ext cx="236220" cy="487045"/>
            </a:xfrm>
            <a:custGeom>
              <a:avLst/>
              <a:gdLst/>
              <a:ahLst/>
              <a:cxnLst/>
              <a:rect l="l" t="t" r="r" b="b"/>
              <a:pathLst>
                <a:path w="236219" h="487045">
                  <a:moveTo>
                    <a:pt x="166060" y="389798"/>
                  </a:moveTo>
                  <a:lnTo>
                    <a:pt x="131216" y="405256"/>
                  </a:lnTo>
                  <a:lnTo>
                    <a:pt x="229793" y="486537"/>
                  </a:lnTo>
                  <a:lnTo>
                    <a:pt x="233466" y="407162"/>
                  </a:lnTo>
                  <a:lnTo>
                    <a:pt x="173761" y="407162"/>
                  </a:lnTo>
                  <a:lnTo>
                    <a:pt x="166060" y="389798"/>
                  </a:lnTo>
                  <a:close/>
                </a:path>
                <a:path w="236219" h="487045">
                  <a:moveTo>
                    <a:pt x="200863" y="374357"/>
                  </a:moveTo>
                  <a:lnTo>
                    <a:pt x="166060" y="389798"/>
                  </a:lnTo>
                  <a:lnTo>
                    <a:pt x="173761" y="407162"/>
                  </a:lnTo>
                  <a:lnTo>
                    <a:pt x="208597" y="391794"/>
                  </a:lnTo>
                  <a:lnTo>
                    <a:pt x="200863" y="374357"/>
                  </a:lnTo>
                  <a:close/>
                </a:path>
                <a:path w="236219" h="487045">
                  <a:moveTo>
                    <a:pt x="235699" y="358901"/>
                  </a:moveTo>
                  <a:lnTo>
                    <a:pt x="200863" y="374357"/>
                  </a:lnTo>
                  <a:lnTo>
                    <a:pt x="208597" y="391794"/>
                  </a:lnTo>
                  <a:lnTo>
                    <a:pt x="173761" y="407162"/>
                  </a:lnTo>
                  <a:lnTo>
                    <a:pt x="233466" y="407162"/>
                  </a:lnTo>
                  <a:lnTo>
                    <a:pt x="235699" y="358901"/>
                  </a:lnTo>
                  <a:close/>
                </a:path>
                <a:path w="236219" h="487045">
                  <a:moveTo>
                    <a:pt x="34823" y="0"/>
                  </a:moveTo>
                  <a:lnTo>
                    <a:pt x="0" y="15366"/>
                  </a:lnTo>
                  <a:lnTo>
                    <a:pt x="166060" y="389798"/>
                  </a:lnTo>
                  <a:lnTo>
                    <a:pt x="200863" y="374357"/>
                  </a:lnTo>
                  <a:lnTo>
                    <a:pt x="34823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41147" y="1757552"/>
            <a:ext cx="8792845" cy="1081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5645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71564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CSS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rule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consists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selector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declaration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block.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80"/>
              </a:spcBef>
              <a:tabLst>
                <a:tab pos="2405380" algn="l"/>
              </a:tabLst>
            </a:pPr>
            <a:r>
              <a:rPr sz="2400" spc="-10" dirty="0">
                <a:solidFill>
                  <a:srgbClr val="5B9BD4"/>
                </a:solidFill>
                <a:latin typeface="Calibri"/>
                <a:cs typeface="Calibri"/>
              </a:rPr>
              <a:t>Selector</a:t>
            </a:r>
            <a:r>
              <a:rPr sz="2400" dirty="0">
                <a:solidFill>
                  <a:srgbClr val="5B9BD4"/>
                </a:solidFill>
                <a:latin typeface="Calibri"/>
                <a:cs typeface="Calibri"/>
              </a:rPr>
              <a:t>	</a:t>
            </a:r>
            <a:r>
              <a:rPr sz="2400" spc="-10" dirty="0">
                <a:solidFill>
                  <a:srgbClr val="A9D18E"/>
                </a:solidFill>
                <a:latin typeface="Calibri"/>
                <a:cs typeface="Calibri"/>
              </a:rPr>
              <a:t>Declaration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24060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000000"/>
                </a:solidFill>
              </a:rPr>
              <a:t>CSS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5" dirty="0">
                <a:solidFill>
                  <a:srgbClr val="000000"/>
                </a:solidFill>
              </a:rPr>
              <a:t>Syntax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16939" y="3210073"/>
            <a:ext cx="4322445" cy="2069464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800" dirty="0">
                <a:solidFill>
                  <a:srgbClr val="FFC000"/>
                </a:solidFill>
                <a:latin typeface="Consolas"/>
                <a:cs typeface="Consolas"/>
              </a:rPr>
              <a:t>h1</a:t>
            </a:r>
            <a:r>
              <a:rPr sz="2800" spc="-45" dirty="0">
                <a:solidFill>
                  <a:srgbClr val="FFC000"/>
                </a:solidFill>
                <a:latin typeface="Consolas"/>
                <a:cs typeface="Consolas"/>
              </a:rPr>
              <a:t> </a:t>
            </a:r>
            <a:r>
              <a:rPr sz="2800" spc="-50" dirty="0">
                <a:latin typeface="Consolas"/>
                <a:cs typeface="Consolas"/>
              </a:rPr>
              <a:t>{</a:t>
            </a:r>
            <a:endParaRPr sz="2800">
              <a:latin typeface="Consolas"/>
              <a:cs typeface="Consolas"/>
            </a:endParaRPr>
          </a:p>
          <a:p>
            <a:pPr marL="793115">
              <a:lnSpc>
                <a:spcPct val="100000"/>
              </a:lnSpc>
              <a:spcBef>
                <a:spcPts val="660"/>
              </a:spcBef>
            </a:pPr>
            <a:r>
              <a:rPr sz="2800" dirty="0">
                <a:solidFill>
                  <a:srgbClr val="00AFEF"/>
                </a:solidFill>
                <a:latin typeface="Consolas"/>
                <a:cs typeface="Consolas"/>
              </a:rPr>
              <a:t>color</a:t>
            </a:r>
            <a:r>
              <a:rPr sz="2800" dirty="0">
                <a:latin typeface="Consolas"/>
                <a:cs typeface="Consolas"/>
              </a:rPr>
              <a:t>:</a:t>
            </a:r>
            <a:r>
              <a:rPr sz="2800" spc="-15" dirty="0">
                <a:latin typeface="Consolas"/>
                <a:cs typeface="Consolas"/>
              </a:rPr>
              <a:t> </a:t>
            </a:r>
            <a:r>
              <a:rPr sz="2800" spc="-20" dirty="0">
                <a:solidFill>
                  <a:srgbClr val="EC7C30"/>
                </a:solidFill>
                <a:latin typeface="Consolas"/>
                <a:cs typeface="Consolas"/>
              </a:rPr>
              <a:t>red</a:t>
            </a:r>
            <a:r>
              <a:rPr sz="2800" spc="-20" dirty="0">
                <a:latin typeface="Consolas"/>
                <a:cs typeface="Consolas"/>
              </a:rPr>
              <a:t>;</a:t>
            </a:r>
            <a:endParaRPr sz="2800">
              <a:latin typeface="Consolas"/>
              <a:cs typeface="Consolas"/>
            </a:endParaRPr>
          </a:p>
          <a:p>
            <a:pPr marL="793115">
              <a:lnSpc>
                <a:spcPct val="100000"/>
              </a:lnSpc>
              <a:spcBef>
                <a:spcPts val="675"/>
              </a:spcBef>
            </a:pPr>
            <a:r>
              <a:rPr sz="2800" spc="-25" dirty="0">
                <a:solidFill>
                  <a:srgbClr val="00AFEF"/>
                </a:solidFill>
                <a:latin typeface="Consolas"/>
                <a:cs typeface="Consolas"/>
              </a:rPr>
              <a:t>text-</a:t>
            </a:r>
            <a:r>
              <a:rPr sz="2800" dirty="0">
                <a:solidFill>
                  <a:srgbClr val="00AFEF"/>
                </a:solidFill>
                <a:latin typeface="Consolas"/>
                <a:cs typeface="Consolas"/>
              </a:rPr>
              <a:t>align</a:t>
            </a:r>
            <a:r>
              <a:rPr sz="2800" dirty="0">
                <a:latin typeface="Consolas"/>
                <a:cs typeface="Consolas"/>
              </a:rPr>
              <a:t>:</a:t>
            </a:r>
            <a:r>
              <a:rPr sz="2800" spc="-60" dirty="0"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EC7C30"/>
                </a:solidFill>
                <a:latin typeface="Consolas"/>
                <a:cs typeface="Consolas"/>
              </a:rPr>
              <a:t>right</a:t>
            </a:r>
            <a:r>
              <a:rPr sz="2800" spc="-10" dirty="0">
                <a:latin typeface="Consolas"/>
                <a:cs typeface="Consolas"/>
              </a:rPr>
              <a:t>;</a:t>
            </a:r>
            <a:endParaRPr sz="2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-50" dirty="0">
                <a:latin typeface="Consolas"/>
                <a:cs typeface="Consolas"/>
              </a:rPr>
              <a:t>}</a:t>
            </a:r>
            <a:endParaRPr sz="2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1980" y="5709310"/>
            <a:ext cx="11042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AFEF"/>
                </a:solidFill>
                <a:latin typeface="Calibri"/>
                <a:cs typeface="Calibri"/>
              </a:rPr>
              <a:t>Property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39798" y="4772025"/>
            <a:ext cx="2815590" cy="951865"/>
            <a:chOff x="1939798" y="4772025"/>
            <a:chExt cx="2815590" cy="951865"/>
          </a:xfrm>
        </p:grpSpPr>
        <p:sp>
          <p:nvSpPr>
            <p:cNvPr id="12" name="object 12"/>
            <p:cNvSpPr/>
            <p:nvPr/>
          </p:nvSpPr>
          <p:spPr>
            <a:xfrm>
              <a:off x="1939798" y="4819903"/>
              <a:ext cx="521334" cy="889000"/>
            </a:xfrm>
            <a:custGeom>
              <a:avLst/>
              <a:gdLst/>
              <a:ahLst/>
              <a:cxnLst/>
              <a:rect l="l" t="t" r="r" b="b"/>
              <a:pathLst>
                <a:path w="521335" h="889000">
                  <a:moveTo>
                    <a:pt x="411816" y="135023"/>
                  </a:moveTo>
                  <a:lnTo>
                    <a:pt x="0" y="860590"/>
                  </a:lnTo>
                  <a:lnTo>
                    <a:pt x="49656" y="888796"/>
                  </a:lnTo>
                  <a:lnTo>
                    <a:pt x="461484" y="163199"/>
                  </a:lnTo>
                  <a:lnTo>
                    <a:pt x="411816" y="135023"/>
                  </a:lnTo>
                  <a:close/>
                </a:path>
                <a:path w="521335" h="889000">
                  <a:moveTo>
                    <a:pt x="515489" y="110109"/>
                  </a:moveTo>
                  <a:lnTo>
                    <a:pt x="425957" y="110109"/>
                  </a:lnTo>
                  <a:lnTo>
                    <a:pt x="475614" y="138303"/>
                  </a:lnTo>
                  <a:lnTo>
                    <a:pt x="461484" y="163199"/>
                  </a:lnTo>
                  <a:lnTo>
                    <a:pt x="511175" y="191389"/>
                  </a:lnTo>
                  <a:lnTo>
                    <a:pt x="515489" y="110109"/>
                  </a:lnTo>
                  <a:close/>
                </a:path>
                <a:path w="521335" h="889000">
                  <a:moveTo>
                    <a:pt x="425957" y="110109"/>
                  </a:moveTo>
                  <a:lnTo>
                    <a:pt x="411816" y="135023"/>
                  </a:lnTo>
                  <a:lnTo>
                    <a:pt x="461484" y="163199"/>
                  </a:lnTo>
                  <a:lnTo>
                    <a:pt x="475614" y="138303"/>
                  </a:lnTo>
                  <a:lnTo>
                    <a:pt x="425957" y="110109"/>
                  </a:lnTo>
                  <a:close/>
                </a:path>
                <a:path w="521335" h="889000">
                  <a:moveTo>
                    <a:pt x="521334" y="0"/>
                  </a:moveTo>
                  <a:lnTo>
                    <a:pt x="362076" y="106807"/>
                  </a:lnTo>
                  <a:lnTo>
                    <a:pt x="411816" y="135023"/>
                  </a:lnTo>
                  <a:lnTo>
                    <a:pt x="425957" y="110109"/>
                  </a:lnTo>
                  <a:lnTo>
                    <a:pt x="515489" y="110109"/>
                  </a:lnTo>
                  <a:lnTo>
                    <a:pt x="521334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417822" y="4772025"/>
              <a:ext cx="337820" cy="951865"/>
            </a:xfrm>
            <a:custGeom>
              <a:avLst/>
              <a:gdLst/>
              <a:ahLst/>
              <a:cxnLst/>
              <a:rect l="l" t="t" r="r" b="b"/>
              <a:pathLst>
                <a:path w="337820" h="951864">
                  <a:moveTo>
                    <a:pt x="109753" y="156498"/>
                  </a:moveTo>
                  <a:lnTo>
                    <a:pt x="54867" y="172549"/>
                  </a:lnTo>
                  <a:lnTo>
                    <a:pt x="282448" y="951280"/>
                  </a:lnTo>
                  <a:lnTo>
                    <a:pt x="337312" y="935253"/>
                  </a:lnTo>
                  <a:lnTo>
                    <a:pt x="109753" y="156498"/>
                  </a:lnTo>
                  <a:close/>
                </a:path>
                <a:path w="337820" h="951864">
                  <a:moveTo>
                    <a:pt x="34162" y="0"/>
                  </a:moveTo>
                  <a:lnTo>
                    <a:pt x="0" y="188594"/>
                  </a:lnTo>
                  <a:lnTo>
                    <a:pt x="54867" y="172549"/>
                  </a:lnTo>
                  <a:lnTo>
                    <a:pt x="46862" y="145161"/>
                  </a:lnTo>
                  <a:lnTo>
                    <a:pt x="101726" y="129031"/>
                  </a:lnTo>
                  <a:lnTo>
                    <a:pt x="153978" y="129031"/>
                  </a:lnTo>
                  <a:lnTo>
                    <a:pt x="34162" y="0"/>
                  </a:lnTo>
                  <a:close/>
                </a:path>
                <a:path w="337820" h="951864">
                  <a:moveTo>
                    <a:pt x="101726" y="129031"/>
                  </a:moveTo>
                  <a:lnTo>
                    <a:pt x="46862" y="145161"/>
                  </a:lnTo>
                  <a:lnTo>
                    <a:pt x="54867" y="172549"/>
                  </a:lnTo>
                  <a:lnTo>
                    <a:pt x="109753" y="156498"/>
                  </a:lnTo>
                  <a:lnTo>
                    <a:pt x="101726" y="129031"/>
                  </a:lnTo>
                  <a:close/>
                </a:path>
                <a:path w="337820" h="951864">
                  <a:moveTo>
                    <a:pt x="153978" y="129031"/>
                  </a:moveTo>
                  <a:lnTo>
                    <a:pt x="101726" y="129031"/>
                  </a:lnTo>
                  <a:lnTo>
                    <a:pt x="109753" y="156498"/>
                  </a:lnTo>
                  <a:lnTo>
                    <a:pt x="164591" y="140462"/>
                  </a:lnTo>
                  <a:lnTo>
                    <a:pt x="153978" y="129031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407153" y="5730036"/>
            <a:ext cx="709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EC7C30"/>
                </a:solidFill>
                <a:latin typeface="Calibri"/>
                <a:cs typeface="Calibri"/>
              </a:rPr>
              <a:t>Value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92010" y="3508502"/>
            <a:ext cx="3228340" cy="1943735"/>
          </a:xfrm>
          <a:prstGeom prst="rect">
            <a:avLst/>
          </a:prstGeom>
          <a:ln w="28575">
            <a:solidFill>
              <a:srgbClr val="000000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1045844">
              <a:lnSpc>
                <a:spcPct val="100000"/>
              </a:lnSpc>
              <a:spcBef>
                <a:spcPts val="925"/>
              </a:spcBef>
            </a:pPr>
            <a:r>
              <a:rPr sz="2400" b="1" spc="-10" dirty="0">
                <a:latin typeface="Calibri"/>
                <a:cs typeface="Calibri"/>
              </a:rPr>
              <a:t>Example</a:t>
            </a:r>
            <a:endParaRPr sz="2400">
              <a:latin typeface="Calibri"/>
              <a:cs typeface="Calibri"/>
            </a:endParaRPr>
          </a:p>
          <a:p>
            <a:pPr marL="92075">
              <a:lnSpc>
                <a:spcPct val="100000"/>
              </a:lnSpc>
              <a:spcBef>
                <a:spcPts val="1330"/>
              </a:spcBef>
            </a:pPr>
            <a:r>
              <a:rPr sz="2000" dirty="0">
                <a:solidFill>
                  <a:srgbClr val="A42A2A"/>
                </a:solidFill>
                <a:latin typeface="Consolas"/>
                <a:cs typeface="Consolas"/>
              </a:rPr>
              <a:t>p</a:t>
            </a:r>
            <a:r>
              <a:rPr sz="2000" spc="5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2000" spc="-50" dirty="0">
                <a:latin typeface="Consolas"/>
                <a:cs typeface="Consolas"/>
              </a:rPr>
              <a:t>{</a:t>
            </a:r>
            <a:endParaRPr sz="2000">
              <a:latin typeface="Consolas"/>
              <a:cs typeface="Consolas"/>
            </a:endParaRPr>
          </a:p>
          <a:p>
            <a:pPr marL="372110" marR="192405">
              <a:lnSpc>
                <a:spcPct val="100000"/>
              </a:lnSpc>
            </a:pPr>
            <a:r>
              <a:rPr sz="2000" spc="-10" dirty="0">
                <a:solidFill>
                  <a:srgbClr val="FF0000"/>
                </a:solidFill>
                <a:latin typeface="Consolas"/>
                <a:cs typeface="Consolas"/>
              </a:rPr>
              <a:t>font-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family</a:t>
            </a:r>
            <a:r>
              <a:rPr sz="2000" dirty="0">
                <a:latin typeface="Consolas"/>
                <a:cs typeface="Consolas"/>
              </a:rPr>
              <a:t>:</a:t>
            </a:r>
            <a:r>
              <a:rPr sz="2000" spc="5" dirty="0">
                <a:latin typeface="Consolas"/>
                <a:cs typeface="Consolas"/>
              </a:rPr>
              <a:t> </a:t>
            </a:r>
            <a:r>
              <a:rPr sz="2000" spc="-10" dirty="0">
                <a:solidFill>
                  <a:srgbClr val="0000CD"/>
                </a:solidFill>
                <a:latin typeface="Consolas"/>
                <a:cs typeface="Consolas"/>
              </a:rPr>
              <a:t>Arial</a:t>
            </a:r>
            <a:r>
              <a:rPr sz="2000" spc="-10" dirty="0">
                <a:latin typeface="Consolas"/>
                <a:cs typeface="Consolas"/>
              </a:rPr>
              <a:t>; </a:t>
            </a:r>
            <a:r>
              <a:rPr sz="2000" spc="-10" dirty="0">
                <a:solidFill>
                  <a:srgbClr val="FF0000"/>
                </a:solidFill>
                <a:latin typeface="Consolas"/>
                <a:cs typeface="Consolas"/>
              </a:rPr>
              <a:t>font-</a:t>
            </a:r>
            <a:r>
              <a:rPr sz="2000" dirty="0">
                <a:solidFill>
                  <a:srgbClr val="FF0000"/>
                </a:solidFill>
                <a:latin typeface="Consolas"/>
                <a:cs typeface="Consolas"/>
              </a:rPr>
              <a:t>size</a:t>
            </a:r>
            <a:r>
              <a:rPr sz="2000" dirty="0">
                <a:latin typeface="Consolas"/>
                <a:cs typeface="Consolas"/>
              </a:rPr>
              <a:t>:</a:t>
            </a:r>
            <a:r>
              <a:rPr sz="2000" spc="15" dirty="0">
                <a:latin typeface="Consolas"/>
                <a:cs typeface="Consolas"/>
              </a:rPr>
              <a:t> </a:t>
            </a:r>
            <a:r>
              <a:rPr sz="2000" spc="-20" dirty="0">
                <a:solidFill>
                  <a:srgbClr val="0000CD"/>
                </a:solidFill>
                <a:latin typeface="Consolas"/>
                <a:cs typeface="Consolas"/>
              </a:rPr>
              <a:t>20px</a:t>
            </a:r>
            <a:r>
              <a:rPr sz="2000" spc="-20" dirty="0">
                <a:latin typeface="Consolas"/>
                <a:cs typeface="Consolas"/>
              </a:rPr>
              <a:t>;</a:t>
            </a:r>
            <a:endParaRPr sz="2000">
              <a:latin typeface="Consolas"/>
              <a:cs typeface="Consolas"/>
            </a:endParaRPr>
          </a:p>
          <a:p>
            <a:pPr marL="92075">
              <a:lnSpc>
                <a:spcPts val="2390"/>
              </a:lnSpc>
            </a:pPr>
            <a:r>
              <a:rPr sz="2000" spc="-50" dirty="0">
                <a:latin typeface="Consolas"/>
                <a:cs typeface="Consolas"/>
              </a:rPr>
              <a:t>}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18236"/>
            <a:ext cx="5941061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alibri"/>
                <a:cs typeface="Calibri"/>
              </a:rPr>
              <a:t>Common</a:t>
            </a:r>
            <a:r>
              <a:rPr sz="5400" b="1" spc="-10" dirty="0">
                <a:latin typeface="Calibri"/>
                <a:cs typeface="Calibri"/>
              </a:rPr>
              <a:t> </a:t>
            </a:r>
            <a:br>
              <a:rPr lang="en-US" sz="5400" b="1" spc="-10" dirty="0">
                <a:latin typeface="Calibri"/>
                <a:cs typeface="Calibri"/>
              </a:rPr>
            </a:br>
            <a:r>
              <a:rPr sz="5400" b="1" dirty="0">
                <a:latin typeface="Calibri"/>
                <a:cs typeface="Calibri"/>
              </a:rPr>
              <a:t>CSS </a:t>
            </a:r>
            <a:br>
              <a:rPr lang="en-US" sz="5400" b="1" dirty="0">
                <a:latin typeface="Calibri"/>
                <a:cs typeface="Calibri"/>
              </a:rPr>
            </a:br>
            <a:r>
              <a:rPr sz="5400" b="1" spc="-10" dirty="0">
                <a:latin typeface="Calibri"/>
                <a:cs typeface="Calibri"/>
              </a:rPr>
              <a:t>Properties</a:t>
            </a:r>
            <a:endParaRPr sz="5400" dirty="0"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4DFE50-48F9-8592-65F3-E53AF271D5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56" b="5556"/>
          <a:stretch>
            <a:fillRect/>
          </a:stretch>
        </p:blipFill>
        <p:spPr>
          <a:xfrm>
            <a:off x="4495799" y="52367"/>
            <a:ext cx="5941061" cy="67532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CDAF44-FC5F-B917-7713-6F7A0AC9CD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33" t="13334" r="33333" b="40000"/>
          <a:stretch>
            <a:fillRect/>
          </a:stretch>
        </p:blipFill>
        <p:spPr>
          <a:xfrm>
            <a:off x="5584371" y="-1"/>
            <a:ext cx="3331029" cy="69951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7A29FB-BCA5-7575-4C56-CC761F0BC8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4" t="13333" r="66667" b="55555"/>
          <a:stretch>
            <a:fillRect/>
          </a:stretch>
        </p:blipFill>
        <p:spPr>
          <a:xfrm>
            <a:off x="1828800" y="0"/>
            <a:ext cx="35814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8C626D-0F3E-85CD-FE75-FFD3CBAD8F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67" t="13333" r="3333" b="42223"/>
          <a:stretch>
            <a:fillRect/>
          </a:stretch>
        </p:blipFill>
        <p:spPr>
          <a:xfrm>
            <a:off x="9067800" y="76200"/>
            <a:ext cx="3017520" cy="670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63C8CE-7230-C677-2261-ACE2F160A1F6}"/>
              </a:ext>
            </a:extLst>
          </p:cNvPr>
          <p:cNvSpPr txBox="1"/>
          <p:nvPr/>
        </p:nvSpPr>
        <p:spPr>
          <a:xfrm>
            <a:off x="228600" y="1828800"/>
            <a:ext cx="1595309" cy="2800767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Ways</a:t>
            </a:r>
          </a:p>
          <a:p>
            <a:pPr algn="ctr"/>
            <a:r>
              <a:rPr lang="en-US" sz="4400" dirty="0">
                <a:solidFill>
                  <a:schemeClr val="bg1"/>
                </a:solidFill>
              </a:rPr>
              <a:t>To </a:t>
            </a:r>
          </a:p>
          <a:p>
            <a:pPr algn="ctr"/>
            <a:r>
              <a:rPr lang="en-US" sz="4400" dirty="0">
                <a:solidFill>
                  <a:schemeClr val="bg1"/>
                </a:solidFill>
              </a:rPr>
              <a:t>Use </a:t>
            </a:r>
          </a:p>
          <a:p>
            <a:pPr algn="ctr"/>
            <a:r>
              <a:rPr lang="en-US" sz="4400" dirty="0">
                <a:solidFill>
                  <a:schemeClr val="bg1"/>
                </a:solidFill>
              </a:rPr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33132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92F785-FDDC-C023-FA0F-49CC5F5A4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076175"/>
              </p:ext>
            </p:extLst>
          </p:nvPr>
        </p:nvGraphicFramePr>
        <p:xfrm>
          <a:off x="304800" y="1371600"/>
          <a:ext cx="11398251" cy="2804160"/>
        </p:xfrm>
        <a:graphic>
          <a:graphicData uri="http://schemas.openxmlformats.org/drawingml/2006/table">
            <a:tbl>
              <a:tblPr bandRow="1">
                <a:tableStyleId>{125E5076-3810-47DD-B79F-674D7AD40C01}</a:tableStyleId>
              </a:tblPr>
              <a:tblGrid>
                <a:gridCol w="3799417">
                  <a:extLst>
                    <a:ext uri="{9D8B030D-6E8A-4147-A177-3AD203B41FA5}">
                      <a16:colId xmlns:a16="http://schemas.microsoft.com/office/drawing/2014/main" val="2777858761"/>
                    </a:ext>
                  </a:extLst>
                </a:gridCol>
                <a:gridCol w="3799417">
                  <a:extLst>
                    <a:ext uri="{9D8B030D-6E8A-4147-A177-3AD203B41FA5}">
                      <a16:colId xmlns:a16="http://schemas.microsoft.com/office/drawing/2014/main" val="3625822177"/>
                    </a:ext>
                  </a:extLst>
                </a:gridCol>
                <a:gridCol w="3799417">
                  <a:extLst>
                    <a:ext uri="{9D8B030D-6E8A-4147-A177-3AD203B41FA5}">
                      <a16:colId xmlns:a16="http://schemas.microsoft.com/office/drawing/2014/main" val="164767576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/>
                        <a:t>Where Written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/>
                        <a:t>Best For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9866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/>
                        <a:t>Inline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/>
                        <a:t>Inside HTML tag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/>
                        <a:t>Small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22193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/>
                        <a:t>Internal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/>
                        <a:t>Inside &lt;style&gt;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/>
                        <a:t>Single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43087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/>
                        <a:t>External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/>
                        <a:t>Separate .css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0" dirty="0"/>
                        <a:t>Large projects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548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805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Typeface</a:t>
            </a:r>
            <a:r>
              <a:rPr spc="-185" dirty="0"/>
              <a:t> </a:t>
            </a:r>
            <a:r>
              <a:rPr dirty="0"/>
              <a:t>(Font</a:t>
            </a:r>
            <a:r>
              <a:rPr spc="-185" dirty="0"/>
              <a:t> </a:t>
            </a:r>
            <a:r>
              <a:rPr spc="-10" dirty="0"/>
              <a:t>Family)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114915" cy="411162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i="1" dirty="0">
                <a:solidFill>
                  <a:srgbClr val="FFFFFF"/>
                </a:solidFill>
                <a:latin typeface="Calibri"/>
                <a:cs typeface="Calibri"/>
              </a:rPr>
              <a:t>typeface</a:t>
            </a:r>
            <a:r>
              <a:rPr sz="2800" i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distinctive</a:t>
            </a:r>
            <a:r>
              <a:rPr sz="28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0000"/>
                </a:solidFill>
                <a:latin typeface="Calibri"/>
                <a:cs typeface="Calibri"/>
              </a:rPr>
              <a:t>design</a:t>
            </a:r>
            <a:r>
              <a:rPr sz="2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that's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2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related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of 	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letters,</a:t>
            </a:r>
            <a:r>
              <a:rPr sz="28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numbers</a:t>
            </a:r>
            <a:r>
              <a:rPr sz="2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symbols.</a:t>
            </a:r>
            <a:endParaRPr sz="28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What’s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difference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2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typeface</a:t>
            </a:r>
            <a:r>
              <a:rPr sz="2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font?</a:t>
            </a:r>
            <a:endParaRPr sz="28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29"/>
              </a:spcBef>
            </a:pPr>
            <a:r>
              <a:rPr sz="2400" dirty="0">
                <a:solidFill>
                  <a:srgbClr val="FFFFFF"/>
                </a:solidFill>
                <a:latin typeface="Courier New"/>
                <a:cs typeface="Courier New"/>
              </a:rPr>
              <a:t>o</a:t>
            </a:r>
            <a:r>
              <a:rPr sz="2400" spc="-108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terms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interchangeable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697230" lvl="1" indent="-227329">
              <a:lnSpc>
                <a:spcPts val="2735"/>
              </a:lnSpc>
              <a:spcBef>
                <a:spcPts val="215"/>
              </a:spcBef>
              <a:buFont typeface="Courier New"/>
              <a:buChar char="o"/>
              <a:tabLst>
                <a:tab pos="697230" algn="l"/>
              </a:tabLst>
            </a:pP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Font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font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particular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implementation</a:t>
            </a:r>
            <a:r>
              <a:rPr sz="24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70C0"/>
                </a:solidFill>
                <a:latin typeface="Calibri"/>
                <a:cs typeface="Calibri"/>
              </a:rPr>
              <a:t>typeface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meaning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endParaRPr sz="2400" dirty="0">
              <a:latin typeface="Calibri"/>
              <a:cs typeface="Calibri"/>
            </a:endParaRPr>
          </a:p>
          <a:p>
            <a:pPr marL="698500">
              <a:lnSpc>
                <a:spcPts val="2735"/>
              </a:lnSpc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typeface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rendered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specific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weight,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size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style.</a:t>
            </a:r>
            <a:endParaRPr sz="2400" dirty="0">
              <a:latin typeface="Calibri"/>
              <a:cs typeface="Calibri"/>
            </a:endParaRPr>
          </a:p>
          <a:p>
            <a:pPr marL="697230" marR="452755" lvl="1" indent="-227329">
              <a:lnSpc>
                <a:spcPts val="2590"/>
              </a:lnSpc>
              <a:spcBef>
                <a:spcPts val="545"/>
              </a:spcBef>
              <a:buFont typeface="Courier New"/>
              <a:buChar char="o"/>
              <a:tabLst>
                <a:tab pos="698500" algn="l"/>
              </a:tabLst>
            </a:pPr>
            <a:r>
              <a:rPr sz="2400" spc="-20" dirty="0">
                <a:solidFill>
                  <a:srgbClr val="FFC000"/>
                </a:solidFill>
                <a:latin typeface="Calibri"/>
                <a:cs typeface="Calibri"/>
              </a:rPr>
              <a:t>Typeface:</a:t>
            </a:r>
            <a:r>
              <a:rPr sz="2400" spc="-6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typeface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gives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character</a:t>
            </a:r>
            <a:r>
              <a:rPr sz="2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shape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thickness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that's 	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unique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typeface</a:t>
            </a:r>
            <a:endParaRPr sz="2400" dirty="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170"/>
              </a:spcBef>
              <a:buFont typeface="Courier New"/>
              <a:buChar char="o"/>
              <a:tabLst>
                <a:tab pos="697230" algn="l"/>
              </a:tabLst>
            </a:pPr>
            <a:r>
              <a:rPr sz="2400" dirty="0">
                <a:solidFill>
                  <a:srgbClr val="FFC000"/>
                </a:solidFill>
                <a:latin typeface="Calibri"/>
                <a:cs typeface="Calibri"/>
              </a:rPr>
              <a:t>Helvetica</a:t>
            </a:r>
            <a:r>
              <a:rPr sz="2400" spc="-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C000"/>
                </a:solidFill>
                <a:latin typeface="Calibri"/>
                <a:cs typeface="Calibri"/>
              </a:rPr>
              <a:t>typeface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;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bold</a:t>
            </a:r>
            <a:r>
              <a:rPr sz="2400" spc="-5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EF"/>
                </a:solidFill>
                <a:latin typeface="Calibri"/>
                <a:cs typeface="Calibri"/>
              </a:rPr>
              <a:t>16-</a:t>
            </a: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point</a:t>
            </a:r>
            <a:r>
              <a:rPr sz="2400" spc="-3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AFEF"/>
                </a:solidFill>
                <a:latin typeface="Calibri"/>
                <a:cs typeface="Calibri"/>
              </a:rPr>
              <a:t>Helvetica</a:t>
            </a:r>
            <a:r>
              <a:rPr sz="2400" spc="-45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AFEF"/>
                </a:solidFill>
                <a:latin typeface="Calibri"/>
                <a:cs typeface="Calibri"/>
              </a:rPr>
              <a:t>font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312670">
              <a:lnSpc>
                <a:spcPct val="100000"/>
              </a:lnSpc>
              <a:spcBef>
                <a:spcPts val="825"/>
              </a:spcBef>
            </a:pPr>
            <a:r>
              <a:rPr sz="2800" dirty="0">
                <a:solidFill>
                  <a:srgbClr val="5B9BD4"/>
                </a:solidFill>
                <a:latin typeface="Calibri"/>
                <a:cs typeface="Calibri"/>
              </a:rPr>
              <a:t>font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AF50"/>
                </a:solidFill>
                <a:latin typeface="Calibri"/>
                <a:cs typeface="Calibri"/>
              </a:rPr>
              <a:t>weight</a:t>
            </a:r>
            <a:r>
              <a:rPr sz="2800" spc="-60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1F1F1"/>
                </a:solidFill>
                <a:latin typeface="Calibri"/>
                <a:cs typeface="Calibri"/>
              </a:rPr>
              <a:t>+</a:t>
            </a:r>
            <a:r>
              <a:rPr sz="2800" spc="-6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size</a:t>
            </a:r>
            <a:r>
              <a:rPr sz="28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1F1F1"/>
                </a:solidFill>
                <a:latin typeface="Calibri"/>
                <a:cs typeface="Calibri"/>
              </a:rPr>
              <a:t>+</a:t>
            </a:r>
            <a:r>
              <a:rPr sz="2800" spc="-60" dirty="0">
                <a:solidFill>
                  <a:srgbClr val="F1F1F1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C000"/>
                </a:solidFill>
                <a:latin typeface="Calibri"/>
                <a:cs typeface="Calibri"/>
              </a:rPr>
              <a:t>typeface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16910" y="6085128"/>
            <a:ext cx="4569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5B9BD4"/>
                </a:solidFill>
                <a:latin typeface="Consolas"/>
                <a:cs typeface="Consolas"/>
              </a:rPr>
              <a:t>font</a:t>
            </a:r>
            <a:r>
              <a:rPr sz="2400" dirty="0">
                <a:solidFill>
                  <a:srgbClr val="D3D3D3"/>
                </a:solidFill>
                <a:latin typeface="Consolas"/>
                <a:cs typeface="Consolas"/>
              </a:rPr>
              <a:t>:</a:t>
            </a:r>
            <a:r>
              <a:rPr sz="2400" spc="-3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00AF50"/>
                </a:solidFill>
                <a:latin typeface="Consolas"/>
                <a:cs typeface="Consolas"/>
              </a:rPr>
              <a:t>bold</a:t>
            </a:r>
            <a:r>
              <a:rPr sz="2400" spc="-40" dirty="0">
                <a:solidFill>
                  <a:srgbClr val="00AF50"/>
                </a:solidFill>
                <a:latin typeface="Consolas"/>
                <a:cs typeface="Consolas"/>
              </a:rPr>
              <a:t> </a:t>
            </a:r>
            <a:r>
              <a:rPr sz="2400" dirty="0">
                <a:solidFill>
                  <a:srgbClr val="FF0000"/>
                </a:solidFill>
                <a:latin typeface="Consolas"/>
                <a:cs typeface="Consolas"/>
              </a:rPr>
              <a:t>40px</a:t>
            </a:r>
            <a:r>
              <a:rPr sz="2400" spc="-20" dirty="0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FFC000"/>
                </a:solidFill>
                <a:latin typeface="Consolas"/>
                <a:cs typeface="Consolas"/>
              </a:rPr>
              <a:t>sans-serif</a:t>
            </a:r>
            <a:r>
              <a:rPr sz="2400" spc="-10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23186" y="5996736"/>
            <a:ext cx="13411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Example: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0495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Typeface</a:t>
            </a:r>
            <a:r>
              <a:rPr spc="-185" dirty="0"/>
              <a:t> </a:t>
            </a:r>
            <a:r>
              <a:rPr dirty="0"/>
              <a:t>(Font</a:t>
            </a:r>
            <a:r>
              <a:rPr spc="-185" dirty="0"/>
              <a:t> </a:t>
            </a:r>
            <a:r>
              <a:rPr spc="-10" dirty="0"/>
              <a:t>Family)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901" y="1269619"/>
            <a:ext cx="10631805" cy="39818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 indent="-514984">
              <a:lnSpc>
                <a:spcPts val="3060"/>
              </a:lnSpc>
              <a:spcBef>
                <a:spcPts val="100"/>
              </a:spcBef>
              <a:buAutoNum type="arabicPeriod"/>
              <a:tabLst>
                <a:tab pos="527685" algn="l"/>
              </a:tabLst>
            </a:pPr>
            <a:r>
              <a:rPr sz="3000" b="1" dirty="0">
                <a:solidFill>
                  <a:srgbClr val="EC7C30"/>
                </a:solidFill>
                <a:latin typeface="Times New Roman"/>
                <a:cs typeface="Times New Roman"/>
              </a:rPr>
              <a:t>Serif</a:t>
            </a:r>
            <a:r>
              <a:rPr sz="3000" b="1" spc="-45" dirty="0">
                <a:solidFill>
                  <a:srgbClr val="EC7C3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fonts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70C0"/>
                </a:solidFill>
                <a:latin typeface="Times New Roman"/>
                <a:cs typeface="Times New Roman"/>
              </a:rPr>
              <a:t>small</a:t>
            </a:r>
            <a:r>
              <a:rPr sz="3000" b="1" spc="-3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70C0"/>
                </a:solidFill>
                <a:latin typeface="Times New Roman"/>
                <a:cs typeface="Times New Roman"/>
              </a:rPr>
              <a:t>stroke</a:t>
            </a:r>
            <a:r>
              <a:rPr sz="3000" b="1" spc="-4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70C0"/>
                </a:solidFill>
                <a:latin typeface="Times New Roman"/>
                <a:cs typeface="Times New Roman"/>
              </a:rPr>
              <a:t>at</a:t>
            </a:r>
            <a:r>
              <a:rPr sz="3000" b="1" spc="-4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70C0"/>
                </a:solidFill>
                <a:latin typeface="Times New Roman"/>
                <a:cs typeface="Times New Roman"/>
              </a:rPr>
              <a:t>the</a:t>
            </a:r>
            <a:r>
              <a:rPr sz="3000" b="1" spc="-4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70C0"/>
                </a:solidFill>
                <a:latin typeface="Times New Roman"/>
                <a:cs typeface="Times New Roman"/>
              </a:rPr>
              <a:t>edges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3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each</a:t>
            </a: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Times New Roman"/>
                <a:cs typeface="Times New Roman"/>
              </a:rPr>
              <a:t>letter.</a:t>
            </a:r>
            <a:r>
              <a:rPr sz="3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endParaRPr sz="3000" dirty="0">
              <a:latin typeface="Times New Roman"/>
              <a:cs typeface="Times New Roman"/>
            </a:endParaRPr>
          </a:p>
          <a:p>
            <a:pPr marL="527685" marR="105410">
              <a:lnSpc>
                <a:spcPct val="70100"/>
              </a:lnSpc>
              <a:spcBef>
                <a:spcPts val="535"/>
              </a:spcBef>
            </a:pP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subtle</a:t>
            </a:r>
            <a:r>
              <a:rPr sz="3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appendages</a:t>
            </a:r>
            <a:r>
              <a:rPr sz="3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give</a:t>
            </a:r>
            <a:r>
              <a:rPr sz="3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3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typeface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000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B050"/>
                </a:solidFill>
                <a:latin typeface="Times New Roman"/>
                <a:cs typeface="Times New Roman"/>
              </a:rPr>
              <a:t>traditional,</a:t>
            </a:r>
            <a:r>
              <a:rPr sz="3000" b="1" spc="-2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B050"/>
                </a:solidFill>
                <a:latin typeface="Times New Roman"/>
                <a:cs typeface="Times New Roman"/>
              </a:rPr>
              <a:t>classy</a:t>
            </a:r>
            <a:r>
              <a:rPr sz="3000" b="1" spc="-70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B050"/>
                </a:solidFill>
                <a:latin typeface="Times New Roman"/>
                <a:cs typeface="Times New Roman"/>
              </a:rPr>
              <a:t>look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3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but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they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get</a:t>
            </a:r>
            <a:r>
              <a:rPr sz="3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lost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when</a:t>
            </a:r>
            <a:r>
              <a:rPr sz="3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displayed</a:t>
            </a:r>
            <a:r>
              <a:rPr sz="3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3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screen</a:t>
            </a:r>
            <a:r>
              <a:rPr sz="3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at</a:t>
            </a:r>
            <a:r>
              <a:rPr sz="3000" b="1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FF0000"/>
                </a:solidFill>
                <a:latin typeface="Times New Roman"/>
                <a:cs typeface="Times New Roman"/>
              </a:rPr>
              <a:t>small</a:t>
            </a:r>
            <a:r>
              <a:rPr sz="3000" b="1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sizes</a:t>
            </a:r>
            <a:r>
              <a:rPr sz="3000" spc="-1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3000" dirty="0">
              <a:latin typeface="Times New Roman"/>
              <a:cs typeface="Times New Roman"/>
            </a:endParaRPr>
          </a:p>
          <a:p>
            <a:pPr marL="527685" indent="-514984">
              <a:lnSpc>
                <a:spcPts val="2975"/>
              </a:lnSpc>
              <a:buAutoNum type="arabicPeriod" startAt="2"/>
              <a:tabLst>
                <a:tab pos="527685" algn="l"/>
              </a:tabLst>
            </a:pPr>
            <a:r>
              <a:rPr sz="3000" b="1" spc="-10" dirty="0">
                <a:solidFill>
                  <a:srgbClr val="5B9BD4"/>
                </a:solidFill>
                <a:latin typeface="Calibri"/>
                <a:cs typeface="Calibri"/>
              </a:rPr>
              <a:t>Sans-</a:t>
            </a:r>
            <a:r>
              <a:rPr sz="3000" b="1" dirty="0">
                <a:solidFill>
                  <a:srgbClr val="5B9BD4"/>
                </a:solidFill>
                <a:latin typeface="Calibri"/>
                <a:cs typeface="Calibri"/>
              </a:rPr>
              <a:t>serif</a:t>
            </a:r>
            <a:r>
              <a:rPr sz="3000" b="1" spc="-75" dirty="0">
                <a:solidFill>
                  <a:srgbClr val="5B9BD4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fonts</a:t>
            </a:r>
            <a:r>
              <a:rPr sz="3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3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clean</a:t>
            </a:r>
            <a:r>
              <a:rPr sz="30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FF0000"/>
                </a:solidFill>
                <a:latin typeface="Calibri"/>
                <a:cs typeface="Calibri"/>
              </a:rPr>
              <a:t>lines</a:t>
            </a:r>
            <a:r>
              <a:rPr sz="3000" b="1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(no</a:t>
            </a:r>
            <a:r>
              <a:rPr sz="3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small</a:t>
            </a:r>
            <a:r>
              <a:rPr sz="3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Calibri"/>
                <a:cs typeface="Calibri"/>
              </a:rPr>
              <a:t>strokes</a:t>
            </a:r>
            <a:r>
              <a:rPr sz="3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attached).</a:t>
            </a:r>
            <a:r>
              <a:rPr sz="3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endParaRPr sz="3000" dirty="0">
              <a:latin typeface="Calibri"/>
              <a:cs typeface="Calibri"/>
            </a:endParaRPr>
          </a:p>
          <a:p>
            <a:pPr marL="527685">
              <a:lnSpc>
                <a:spcPts val="2520"/>
              </a:lnSpc>
            </a:pP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30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B050"/>
                </a:solidFill>
                <a:latin typeface="Calibri"/>
                <a:cs typeface="Calibri"/>
              </a:rPr>
              <a:t>clean</a:t>
            </a:r>
            <a:r>
              <a:rPr sz="3000" b="1" spc="-7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B050"/>
                </a:solidFill>
                <a:latin typeface="Calibri"/>
                <a:cs typeface="Calibri"/>
              </a:rPr>
              <a:t>modern</a:t>
            </a:r>
            <a:r>
              <a:rPr sz="3000" b="1" spc="-7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B050"/>
                </a:solidFill>
                <a:latin typeface="Calibri"/>
                <a:cs typeface="Calibri"/>
              </a:rPr>
              <a:t>and</a:t>
            </a:r>
            <a:r>
              <a:rPr sz="3000" b="1" spc="-8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B050"/>
                </a:solidFill>
                <a:latin typeface="Calibri"/>
                <a:cs typeface="Calibri"/>
              </a:rPr>
              <a:t>minimalistic</a:t>
            </a:r>
            <a:r>
              <a:rPr sz="3000" b="1" spc="-7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000" b="1" dirty="0">
                <a:solidFill>
                  <a:srgbClr val="00B050"/>
                </a:solidFill>
                <a:latin typeface="Calibri"/>
                <a:cs typeface="Calibri"/>
              </a:rPr>
              <a:t>look</a:t>
            </a:r>
            <a:r>
              <a:rPr sz="3000" b="1" spc="-6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that’s</a:t>
            </a:r>
            <a:r>
              <a:rPr sz="3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well</a:t>
            </a:r>
            <a:r>
              <a:rPr sz="3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suited</a:t>
            </a:r>
            <a:r>
              <a:rPr sz="3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endParaRPr sz="3000" dirty="0">
              <a:latin typeface="Calibri"/>
              <a:cs typeface="Calibri"/>
            </a:endParaRPr>
          </a:p>
          <a:p>
            <a:pPr marL="527685">
              <a:lnSpc>
                <a:spcPts val="2995"/>
              </a:lnSpc>
            </a:pP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screen</a:t>
            </a:r>
            <a:r>
              <a:rPr sz="3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text,</a:t>
            </a:r>
            <a:r>
              <a:rPr sz="3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particularly</a:t>
            </a:r>
            <a:r>
              <a:rPr sz="3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3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FFFFFF"/>
                </a:solidFill>
                <a:latin typeface="Calibri"/>
                <a:cs typeface="Calibri"/>
              </a:rPr>
              <a:t>small</a:t>
            </a:r>
            <a:r>
              <a:rPr sz="3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Calibri"/>
                <a:cs typeface="Calibri"/>
              </a:rPr>
              <a:t>sizes.</a:t>
            </a:r>
            <a:endParaRPr sz="3000" dirty="0">
              <a:latin typeface="Calibri"/>
              <a:cs typeface="Calibri"/>
            </a:endParaRPr>
          </a:p>
          <a:p>
            <a:pPr marL="527050" indent="-514350">
              <a:lnSpc>
                <a:spcPts val="2995"/>
              </a:lnSpc>
              <a:buAutoNum type="arabicPeriod" startAt="3"/>
              <a:tabLst>
                <a:tab pos="527050" algn="l"/>
              </a:tabLst>
            </a:pPr>
            <a:r>
              <a:rPr sz="3000" b="1" dirty="0">
                <a:solidFill>
                  <a:srgbClr val="92D050"/>
                </a:solidFill>
                <a:latin typeface="Courier New"/>
                <a:cs typeface="Courier New"/>
              </a:rPr>
              <a:t>Monospace</a:t>
            </a:r>
            <a:r>
              <a:rPr sz="3000" b="1" spc="-20" dirty="0">
                <a:solidFill>
                  <a:srgbClr val="92D050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fonts</a:t>
            </a:r>
            <a:r>
              <a:rPr sz="3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-</a:t>
            </a:r>
            <a:r>
              <a:rPr sz="30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here</a:t>
            </a:r>
            <a:r>
              <a:rPr sz="3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all</a:t>
            </a:r>
            <a:r>
              <a:rPr sz="30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sz="3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letters</a:t>
            </a:r>
            <a:r>
              <a:rPr sz="3000" spc="-20" dirty="0">
                <a:solidFill>
                  <a:srgbClr val="FFFFFF"/>
                </a:solidFill>
                <a:latin typeface="Courier New"/>
                <a:cs typeface="Courier New"/>
              </a:rPr>
              <a:t> have</a:t>
            </a:r>
            <a:endParaRPr sz="3000" dirty="0">
              <a:latin typeface="Courier New"/>
              <a:cs typeface="Courier New"/>
            </a:endParaRPr>
          </a:p>
          <a:p>
            <a:pPr marL="527685">
              <a:lnSpc>
                <a:spcPts val="2520"/>
              </a:lnSpc>
            </a:pP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the</a:t>
            </a:r>
            <a:r>
              <a:rPr sz="3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same</a:t>
            </a:r>
            <a:r>
              <a:rPr sz="3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fixed</a:t>
            </a:r>
            <a:r>
              <a:rPr sz="3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width,</a:t>
            </a:r>
            <a:r>
              <a:rPr sz="30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so</a:t>
            </a:r>
            <a:r>
              <a:rPr sz="3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skinny</a:t>
            </a:r>
            <a:r>
              <a:rPr sz="3000" spc="-2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letters</a:t>
            </a:r>
            <a:r>
              <a:rPr sz="3000" spc="-20" dirty="0">
                <a:solidFill>
                  <a:srgbClr val="FFFFFF"/>
                </a:solidFill>
                <a:latin typeface="Courier New"/>
                <a:cs typeface="Courier New"/>
              </a:rPr>
              <a:t> such</a:t>
            </a:r>
            <a:endParaRPr sz="3000" dirty="0">
              <a:latin typeface="Courier New"/>
              <a:cs typeface="Courier New"/>
            </a:endParaRPr>
          </a:p>
          <a:p>
            <a:pPr marL="527685">
              <a:lnSpc>
                <a:spcPts val="2520"/>
              </a:lnSpc>
            </a:pP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as</a:t>
            </a:r>
            <a:r>
              <a:rPr sz="30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i</a:t>
            </a:r>
            <a:r>
              <a:rPr sz="30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and</a:t>
            </a:r>
            <a:r>
              <a:rPr sz="30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l</a:t>
            </a:r>
            <a:r>
              <a:rPr sz="30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take</a:t>
            </a:r>
            <a:r>
              <a:rPr sz="30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up</a:t>
            </a:r>
            <a:r>
              <a:rPr sz="30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as</a:t>
            </a:r>
            <a:r>
              <a:rPr sz="30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much</a:t>
            </a:r>
            <a:r>
              <a:rPr sz="3000" spc="-1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space</a:t>
            </a:r>
            <a:r>
              <a:rPr sz="30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as</a:t>
            </a:r>
            <a:r>
              <a:rPr sz="3000" spc="-10" dirty="0">
                <a:solidFill>
                  <a:srgbClr val="FFFFFF"/>
                </a:solidFill>
                <a:latin typeface="Courier New"/>
                <a:cs typeface="Courier New"/>
              </a:rPr>
              <a:t> wider</a:t>
            </a:r>
            <a:endParaRPr sz="3000" dirty="0">
              <a:latin typeface="Courier New"/>
              <a:cs typeface="Courier New"/>
            </a:endParaRPr>
          </a:p>
          <a:p>
            <a:pPr marL="527685" marR="1408430">
              <a:lnSpc>
                <a:spcPct val="70100"/>
              </a:lnSpc>
              <a:spcBef>
                <a:spcPts val="535"/>
              </a:spcBef>
            </a:pP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letters</a:t>
            </a:r>
            <a:r>
              <a:rPr sz="3000" spc="-3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such</a:t>
            </a:r>
            <a:r>
              <a:rPr sz="30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as</a:t>
            </a:r>
            <a:r>
              <a:rPr sz="30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m</a:t>
            </a:r>
            <a:r>
              <a:rPr sz="30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and</a:t>
            </a:r>
            <a:r>
              <a:rPr sz="30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w.</a:t>
            </a:r>
            <a:r>
              <a:rPr sz="30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They</a:t>
            </a:r>
            <a:r>
              <a:rPr sz="30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create</a:t>
            </a:r>
            <a:r>
              <a:rPr sz="3000" spc="-1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spc="-50" dirty="0">
                <a:solidFill>
                  <a:srgbClr val="FFFFFF"/>
                </a:solidFill>
                <a:latin typeface="Courier New"/>
                <a:cs typeface="Courier New"/>
              </a:rPr>
              <a:t>a </a:t>
            </a:r>
            <a:r>
              <a:rPr sz="3000" dirty="0">
                <a:solidFill>
                  <a:srgbClr val="FFFFFF"/>
                </a:solidFill>
                <a:latin typeface="Courier New"/>
                <a:cs typeface="Courier New"/>
              </a:rPr>
              <a:t>mechanical</a:t>
            </a:r>
            <a:r>
              <a:rPr sz="3000" spc="-5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3000" spc="-20" dirty="0">
                <a:solidFill>
                  <a:srgbClr val="FFFFFF"/>
                </a:solidFill>
                <a:latin typeface="Courier New"/>
                <a:cs typeface="Courier New"/>
              </a:rPr>
              <a:t>look.</a:t>
            </a:r>
            <a:endParaRPr sz="30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900" y="5170423"/>
            <a:ext cx="11147221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i="1" dirty="0">
                <a:solidFill>
                  <a:srgbClr val="FFFF00"/>
                </a:solidFill>
                <a:latin typeface="Verdana"/>
                <a:cs typeface="Verdana"/>
              </a:rPr>
              <a:t>4.</a:t>
            </a:r>
            <a:r>
              <a:rPr sz="3000" b="1" i="1" spc="-35" dirty="0">
                <a:solidFill>
                  <a:srgbClr val="FFFF00"/>
                </a:solidFill>
                <a:latin typeface="Verdana"/>
                <a:cs typeface="Verdana"/>
              </a:rPr>
              <a:t> Cursive</a:t>
            </a:r>
            <a:r>
              <a:rPr sz="3000" b="1" i="1" spc="-75" dirty="0">
                <a:solidFill>
                  <a:srgbClr val="FFFF00"/>
                </a:solidFill>
                <a:latin typeface="Verdana"/>
                <a:cs typeface="Verdana"/>
              </a:rPr>
              <a:t> </a:t>
            </a:r>
            <a:r>
              <a:rPr sz="3000" i="1" spc="105" dirty="0">
                <a:solidFill>
                  <a:srgbClr val="FFFFFF"/>
                </a:solidFill>
                <a:latin typeface="Verdana"/>
                <a:cs typeface="Verdana"/>
              </a:rPr>
              <a:t>fonts</a:t>
            </a:r>
            <a:r>
              <a:rPr sz="3000" i="1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i="1" spc="290" dirty="0">
                <a:solidFill>
                  <a:srgbClr val="FFFFFF"/>
                </a:solidFill>
                <a:latin typeface="Verdana"/>
                <a:cs typeface="Verdana"/>
              </a:rPr>
              <a:t>are</a:t>
            </a:r>
            <a:r>
              <a:rPr sz="3000" i="1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i="1" spc="235" dirty="0">
                <a:solidFill>
                  <a:srgbClr val="FFFFFF"/>
                </a:solidFill>
                <a:latin typeface="Verdana"/>
                <a:cs typeface="Verdana"/>
              </a:rPr>
              <a:t>designed</a:t>
            </a:r>
            <a:r>
              <a:rPr sz="3000" i="1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i="1" spc="145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3000" i="1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b="1" i="1" spc="75" dirty="0">
                <a:solidFill>
                  <a:srgbClr val="0070C0"/>
                </a:solidFill>
                <a:latin typeface="Verdana"/>
                <a:cs typeface="Verdana"/>
              </a:rPr>
              <a:t>resemble</a:t>
            </a:r>
            <a:r>
              <a:rPr sz="3000" b="1" i="1" spc="-85" dirty="0">
                <a:solidFill>
                  <a:srgbClr val="0070C0"/>
                </a:solidFill>
                <a:latin typeface="Verdana"/>
                <a:cs typeface="Verdana"/>
              </a:rPr>
              <a:t> </a:t>
            </a:r>
            <a:r>
              <a:rPr sz="3000" b="1" i="1" spc="415" dirty="0">
                <a:solidFill>
                  <a:srgbClr val="0070C0"/>
                </a:solidFill>
                <a:latin typeface="Verdana"/>
                <a:cs typeface="Verdana"/>
              </a:rPr>
              <a:t>human</a:t>
            </a:r>
            <a:endParaRPr sz="3000" b="1" dirty="0">
              <a:solidFill>
                <a:srgbClr val="0070C0"/>
              </a:solidFill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1317" y="5490159"/>
            <a:ext cx="10762083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i="1" spc="385" dirty="0">
                <a:solidFill>
                  <a:srgbClr val="FFFFFF"/>
                </a:solidFill>
                <a:latin typeface="Verdana"/>
                <a:cs typeface="Verdana"/>
              </a:rPr>
              <a:t>handwriting</a:t>
            </a:r>
            <a:r>
              <a:rPr sz="30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i="1" dirty="0">
                <a:solidFill>
                  <a:srgbClr val="FFFFFF"/>
                </a:solidFill>
                <a:latin typeface="Verdana"/>
                <a:cs typeface="Verdana"/>
              </a:rPr>
              <a:t>e.g.</a:t>
            </a:r>
            <a:r>
              <a:rPr sz="30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i="1" spc="315" dirty="0">
                <a:solidFill>
                  <a:srgbClr val="FFFFFF"/>
                </a:solidFill>
                <a:latin typeface="Verdana"/>
                <a:cs typeface="Verdana"/>
              </a:rPr>
              <a:t>handwritten</a:t>
            </a:r>
            <a:r>
              <a:rPr sz="3000" i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i="1" spc="145" dirty="0">
                <a:solidFill>
                  <a:srgbClr val="FFFFFF"/>
                </a:solidFill>
                <a:latin typeface="Verdana"/>
                <a:cs typeface="Verdana"/>
              </a:rPr>
              <a:t>pen</a:t>
            </a:r>
            <a:r>
              <a:rPr sz="30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i="1" spc="260" dirty="0">
                <a:solidFill>
                  <a:srgbClr val="FFFFFF"/>
                </a:solidFill>
                <a:latin typeface="Verdana"/>
                <a:cs typeface="Verdana"/>
              </a:rPr>
              <a:t>or</a:t>
            </a:r>
            <a:r>
              <a:rPr sz="3000" i="1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3000" i="1" spc="170" dirty="0">
                <a:solidFill>
                  <a:srgbClr val="FFFFFF"/>
                </a:solidFill>
                <a:latin typeface="Verdana"/>
                <a:cs typeface="Verdana"/>
              </a:rPr>
              <a:t>brush</a:t>
            </a:r>
            <a:endParaRPr sz="3000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5901" y="5810199"/>
            <a:ext cx="955167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7685">
              <a:lnSpc>
                <a:spcPts val="3565"/>
              </a:lnSpc>
              <a:spcBef>
                <a:spcPts val="100"/>
              </a:spcBef>
            </a:pPr>
            <a:r>
              <a:rPr sz="3000" i="1" spc="270" dirty="0">
                <a:solidFill>
                  <a:srgbClr val="FFFFFF"/>
                </a:solidFill>
                <a:latin typeface="Verdana"/>
                <a:cs typeface="Verdana"/>
              </a:rPr>
              <a:t>writing.</a:t>
            </a:r>
            <a:endParaRPr sz="3000" dirty="0">
              <a:latin typeface="Verdana"/>
              <a:cs typeface="Verdana"/>
            </a:endParaRPr>
          </a:p>
          <a:p>
            <a:pPr marL="12700">
              <a:lnSpc>
                <a:spcPts val="3565"/>
              </a:lnSpc>
              <a:tabLst>
                <a:tab pos="527685" algn="l"/>
              </a:tabLst>
            </a:pPr>
            <a:r>
              <a:rPr sz="3000" b="1" spc="70" dirty="0">
                <a:solidFill>
                  <a:srgbClr val="FF0000"/>
                </a:solidFill>
                <a:latin typeface="Cambria"/>
                <a:cs typeface="Cambria"/>
              </a:rPr>
              <a:t>5.</a:t>
            </a:r>
            <a:r>
              <a:rPr sz="3000" b="1" dirty="0">
                <a:solidFill>
                  <a:srgbClr val="FF0000"/>
                </a:solidFill>
                <a:latin typeface="Cambria"/>
                <a:cs typeface="Cambria"/>
              </a:rPr>
              <a:t>	FANTASY</a:t>
            </a:r>
            <a:r>
              <a:rPr sz="3000" b="1" spc="1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3000" dirty="0">
                <a:solidFill>
                  <a:srgbClr val="FFFFFF"/>
                </a:solidFill>
                <a:latin typeface="Cambria"/>
                <a:cs typeface="Cambria"/>
              </a:rPr>
              <a:t>FONTS</a:t>
            </a:r>
            <a:r>
              <a:rPr sz="3000" spc="1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000" spc="70" dirty="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sz="3000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000" b="1" dirty="0">
                <a:solidFill>
                  <a:srgbClr val="0070C0"/>
                </a:solidFill>
                <a:latin typeface="Cambria"/>
                <a:cs typeface="Cambria"/>
              </a:rPr>
              <a:t>DECORATIVE/PLAYFUL</a:t>
            </a:r>
            <a:r>
              <a:rPr sz="3000" b="1" spc="145" dirty="0">
                <a:solidFill>
                  <a:srgbClr val="0070C0"/>
                </a:solidFill>
                <a:latin typeface="Cambria"/>
                <a:cs typeface="Cambria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Cambria"/>
                <a:cs typeface="Cambria"/>
              </a:rPr>
              <a:t>FONTS</a:t>
            </a:r>
            <a:endParaRPr sz="3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Difference</a:t>
            </a:r>
            <a:r>
              <a:rPr spc="-80" dirty="0"/>
              <a:t> </a:t>
            </a:r>
            <a:r>
              <a:rPr dirty="0"/>
              <a:t>Between</a:t>
            </a:r>
            <a:r>
              <a:rPr spc="-35" dirty="0"/>
              <a:t> </a:t>
            </a:r>
            <a:r>
              <a:rPr dirty="0"/>
              <a:t>Serif</a:t>
            </a:r>
            <a:r>
              <a:rPr spc="-5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20" dirty="0"/>
              <a:t>Sans-</a:t>
            </a:r>
            <a:r>
              <a:rPr spc="-10" dirty="0"/>
              <a:t>serif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1420" y="5157038"/>
            <a:ext cx="9624060" cy="81978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39395" marR="5080" indent="-227329">
              <a:lnSpc>
                <a:spcPts val="2890"/>
              </a:lnSpc>
              <a:spcBef>
                <a:spcPts val="58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solidFill>
                  <a:srgbClr val="FFFFFF"/>
                </a:solidFill>
                <a:latin typeface="Verdana"/>
                <a:cs typeface="Verdana"/>
              </a:rPr>
              <a:t>Note:</a:t>
            </a:r>
            <a:r>
              <a:rPr sz="2800" b="1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On</a:t>
            </a:r>
            <a:r>
              <a:rPr sz="28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computer</a:t>
            </a:r>
            <a:r>
              <a:rPr sz="28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screens,</a:t>
            </a:r>
            <a:r>
              <a:rPr sz="28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Verdana"/>
                <a:cs typeface="Verdana"/>
              </a:rPr>
              <a:t>sans-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serif</a:t>
            </a:r>
            <a:r>
              <a:rPr sz="2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typeface</a:t>
            </a:r>
            <a:r>
              <a:rPr sz="2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Verdana"/>
                <a:cs typeface="Verdana"/>
              </a:rPr>
              <a:t>are 	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considered</a:t>
            </a:r>
            <a:r>
              <a:rPr sz="28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easier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to</a:t>
            </a:r>
            <a:r>
              <a:rPr sz="2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read</a:t>
            </a:r>
            <a:r>
              <a:rPr sz="2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than</a:t>
            </a:r>
            <a:r>
              <a:rPr sz="28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serif</a:t>
            </a:r>
            <a:r>
              <a:rPr sz="2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FFFFFF"/>
                </a:solidFill>
                <a:latin typeface="Verdana"/>
                <a:cs typeface="Verdana"/>
              </a:rPr>
              <a:t>font</a:t>
            </a:r>
            <a:r>
              <a:rPr sz="2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Verdana"/>
                <a:cs typeface="Verdana"/>
              </a:rPr>
              <a:t>family.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4794" y="2008251"/>
            <a:ext cx="7284339" cy="25989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Font</a:t>
            </a:r>
            <a:r>
              <a:rPr spc="-55" dirty="0"/>
              <a:t> </a:t>
            </a:r>
            <a:r>
              <a:rPr dirty="0"/>
              <a:t>Selection</a:t>
            </a:r>
            <a:r>
              <a:rPr spc="-40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spc="-10" dirty="0"/>
              <a:t>Important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950915"/>
              </p:ext>
            </p:extLst>
          </p:nvPr>
        </p:nvGraphicFramePr>
        <p:xfrm>
          <a:off x="466090" y="1684401"/>
          <a:ext cx="11308715" cy="4034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33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2465">
                <a:tc>
                  <a:txBody>
                    <a:bodyPr/>
                    <a:lstStyle/>
                    <a:p>
                      <a:pPr marL="887094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Typeface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Uses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67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4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2000" b="1" spc="-10" dirty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Serif</a:t>
                      </a:r>
                      <a:endParaRPr sz="2000" b="1" dirty="0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works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best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headings</a:t>
                      </a:r>
                      <a:r>
                        <a:rPr sz="2000" b="1" spc="-6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b="1" spc="-6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other</a:t>
                      </a:r>
                      <a:r>
                        <a:rPr sz="2000" b="1" spc="-5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text</a:t>
                      </a:r>
                      <a:r>
                        <a:rPr sz="20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set</a:t>
                      </a:r>
                      <a:r>
                        <a:rPr sz="20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sz="20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large</a:t>
                      </a:r>
                      <a:r>
                        <a:rPr sz="2000" b="1" spc="-4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sizes;</a:t>
                      </a:r>
                      <a:endParaRPr sz="2000" b="1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4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2000" b="1" spc="-20" dirty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Sans-serif</a:t>
                      </a:r>
                      <a:endParaRPr sz="2000" b="1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makes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good</a:t>
                      </a:r>
                      <a:r>
                        <a:rPr sz="20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body</a:t>
                      </a:r>
                      <a:r>
                        <a:rPr sz="2000" b="1" spc="-6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text</a:t>
                      </a:r>
                      <a:endParaRPr sz="2000" b="1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4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2000" b="1" spc="-10" dirty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Monospace</a:t>
                      </a:r>
                      <a:endParaRPr sz="2000" b="1" dirty="0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works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well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r>
                        <a:rPr sz="2000" b="1" spc="-7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listings</a:t>
                      </a:r>
                      <a:endParaRPr sz="2000" b="1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4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2000" b="1" spc="-10" dirty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Cursive</a:t>
                      </a:r>
                      <a:endParaRPr sz="2000" b="1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best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2000" b="1" spc="-5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short</a:t>
                      </a:r>
                      <a:r>
                        <a:rPr sz="20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r>
                        <a:rPr sz="2000" b="1" spc="-4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b="1" spc="-5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text</a:t>
                      </a:r>
                      <a:r>
                        <a:rPr sz="2000" b="1" spc="-2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require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elegance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playfulness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e.g.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scripts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BEB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4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2000" b="1" spc="-10" dirty="0">
                          <a:solidFill>
                            <a:srgbClr val="0070C0"/>
                          </a:solidFill>
                          <a:latin typeface="Calibri"/>
                          <a:cs typeface="Calibri"/>
                        </a:rPr>
                        <a:t>Fantasy</a:t>
                      </a:r>
                      <a:endParaRPr sz="2000" b="1" dirty="0">
                        <a:solidFill>
                          <a:srgbClr val="0070C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should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only</a:t>
                      </a:r>
                      <a:r>
                        <a:rPr sz="20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when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special</a:t>
                      </a:r>
                      <a:r>
                        <a:rPr sz="2000" b="1" spc="-2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effect</a:t>
                      </a:r>
                      <a:r>
                        <a:rPr sz="2000" b="1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required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(such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being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extra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thick).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8D6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CSS</a:t>
            </a:r>
            <a:r>
              <a:rPr b="1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Box</a:t>
            </a:r>
            <a:r>
              <a:rPr b="1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0000"/>
                </a:solidFill>
                <a:latin typeface="Calibri"/>
                <a:cs typeface="Calibri"/>
              </a:rPr>
              <a:t>Model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4161"/>
            <a:ext cx="70675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All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HTML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elements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considered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boxes.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3116" y="2698983"/>
            <a:ext cx="6125415" cy="37247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Table</a:t>
            </a:r>
            <a:r>
              <a:rPr spc="-215" dirty="0"/>
              <a:t> </a:t>
            </a:r>
            <a:r>
              <a:rPr spc="-10" dirty="0"/>
              <a:t>Border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7827"/>
            <a:ext cx="5885180" cy="411416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2800" dirty="0">
                <a:solidFill>
                  <a:srgbClr val="D6B97C"/>
                </a:solidFill>
                <a:latin typeface="Consolas"/>
                <a:cs typeface="Consolas"/>
              </a:rPr>
              <a:t>table</a:t>
            </a:r>
            <a:r>
              <a:rPr sz="2800" spc="-105" dirty="0">
                <a:solidFill>
                  <a:srgbClr val="D6B97C"/>
                </a:solidFill>
                <a:latin typeface="Consolas"/>
                <a:cs typeface="Consolas"/>
              </a:rPr>
              <a:t> </a:t>
            </a: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2800" dirty="0">
              <a:latin typeface="Consolas"/>
              <a:cs typeface="Consolas"/>
            </a:endParaRPr>
          </a:p>
          <a:p>
            <a:pPr marL="793115" marR="5080">
              <a:lnSpc>
                <a:spcPts val="3700"/>
              </a:lnSpc>
              <a:spcBef>
                <a:spcPts val="170"/>
              </a:spcBef>
            </a:pP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border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:</a:t>
            </a:r>
            <a:r>
              <a:rPr sz="2800" spc="-9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B5CEA8"/>
                </a:solidFill>
                <a:latin typeface="Consolas"/>
                <a:cs typeface="Consolas"/>
              </a:rPr>
              <a:t>1px</a:t>
            </a:r>
            <a:r>
              <a:rPr sz="2800" spc="-80" dirty="0">
                <a:solidFill>
                  <a:srgbClr val="B5CEA8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CE9178"/>
                </a:solidFill>
                <a:latin typeface="Consolas"/>
                <a:cs typeface="Consolas"/>
              </a:rPr>
              <a:t>solid</a:t>
            </a:r>
            <a:r>
              <a:rPr sz="2800" spc="-8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CE9178"/>
                </a:solidFill>
                <a:latin typeface="Consolas"/>
                <a:cs typeface="Consolas"/>
              </a:rPr>
              <a:t>black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; </a:t>
            </a:r>
            <a:r>
              <a:rPr sz="2800" spc="-25" dirty="0">
                <a:solidFill>
                  <a:srgbClr val="9CDCFD"/>
                </a:solidFill>
                <a:latin typeface="Consolas"/>
                <a:cs typeface="Consolas"/>
              </a:rPr>
              <a:t>border-</a:t>
            </a: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collapse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:</a:t>
            </a:r>
            <a:r>
              <a:rPr sz="2800" spc="-7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CE9178"/>
                </a:solidFill>
                <a:latin typeface="Consolas"/>
                <a:cs typeface="Consolas"/>
              </a:rPr>
              <a:t>collapse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endParaRPr sz="2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010"/>
              </a:spcBef>
            </a:pPr>
            <a:r>
              <a:rPr sz="2800" dirty="0">
                <a:solidFill>
                  <a:srgbClr val="D6B97C"/>
                </a:solidFill>
                <a:latin typeface="Consolas"/>
                <a:cs typeface="Consolas"/>
              </a:rPr>
              <a:t>td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,</a:t>
            </a: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D6B97C"/>
                </a:solidFill>
                <a:latin typeface="Consolas"/>
                <a:cs typeface="Consolas"/>
              </a:rPr>
              <a:t>th</a:t>
            </a:r>
            <a:r>
              <a:rPr sz="2800" spc="-40" dirty="0">
                <a:solidFill>
                  <a:srgbClr val="D6B97C"/>
                </a:solidFill>
                <a:latin typeface="Consolas"/>
                <a:cs typeface="Consolas"/>
              </a:rPr>
              <a:t> </a:t>
            </a: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2800" dirty="0">
              <a:latin typeface="Consolas"/>
              <a:cs typeface="Consolas"/>
            </a:endParaRPr>
          </a:p>
          <a:p>
            <a:pPr marL="793115" marR="396240">
              <a:lnSpc>
                <a:spcPct val="109700"/>
              </a:lnSpc>
              <a:spcBef>
                <a:spcPts val="10"/>
              </a:spcBef>
            </a:pP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border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:</a:t>
            </a:r>
            <a:r>
              <a:rPr sz="2800" spc="-9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B5CEA8"/>
                </a:solidFill>
                <a:latin typeface="Consolas"/>
                <a:cs typeface="Consolas"/>
              </a:rPr>
              <a:t>1px</a:t>
            </a:r>
            <a:r>
              <a:rPr sz="2800" spc="-80" dirty="0">
                <a:solidFill>
                  <a:srgbClr val="B5CEA8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CE9178"/>
                </a:solidFill>
                <a:latin typeface="Consolas"/>
                <a:cs typeface="Consolas"/>
              </a:rPr>
              <a:t>solid</a:t>
            </a:r>
            <a:r>
              <a:rPr sz="2800" spc="-80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CE9178"/>
                </a:solidFill>
                <a:latin typeface="Consolas"/>
                <a:cs typeface="Consolas"/>
              </a:rPr>
              <a:t>black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; </a:t>
            </a: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padding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:</a:t>
            </a:r>
            <a:r>
              <a:rPr sz="2800" spc="-13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20" dirty="0">
                <a:solidFill>
                  <a:srgbClr val="B5CEA8"/>
                </a:solidFill>
                <a:latin typeface="Consolas"/>
                <a:cs typeface="Consolas"/>
              </a:rPr>
              <a:t>5px</a:t>
            </a:r>
            <a:r>
              <a:rPr sz="2800" spc="-20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endParaRPr sz="2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alibri"/>
                <a:cs typeface="Calibri"/>
              </a:rPr>
              <a:t>Identifying</a:t>
            </a:r>
            <a:r>
              <a:rPr sz="5400" b="1" spc="-204" dirty="0">
                <a:latin typeface="Calibri"/>
                <a:cs typeface="Calibri"/>
              </a:rPr>
              <a:t> </a:t>
            </a:r>
            <a:r>
              <a:rPr sz="5400" b="1" spc="-10" dirty="0">
                <a:latin typeface="Calibri"/>
                <a:cs typeface="Calibri"/>
              </a:rPr>
              <a:t>Elements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935990" cy="20720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div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span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id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33621" y="2506598"/>
            <a:ext cx="6332855" cy="4351655"/>
          </a:xfrm>
          <a:custGeom>
            <a:avLst/>
            <a:gdLst/>
            <a:ahLst/>
            <a:cxnLst/>
            <a:rect l="l" t="t" r="r" b="b"/>
            <a:pathLst>
              <a:path w="6332855" h="4351655">
                <a:moveTo>
                  <a:pt x="0" y="4351401"/>
                </a:moveTo>
                <a:lnTo>
                  <a:pt x="6332347" y="4351401"/>
                </a:lnTo>
                <a:lnTo>
                  <a:pt x="6332347" y="0"/>
                </a:lnTo>
                <a:lnTo>
                  <a:pt x="0" y="0"/>
                </a:lnTo>
                <a:lnTo>
                  <a:pt x="0" y="4351401"/>
                </a:lnTo>
                <a:close/>
              </a:path>
            </a:pathLst>
          </a:custGeom>
          <a:ln w="9525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5657" y="450050"/>
            <a:ext cx="10659110" cy="605726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65"/>
              </a:spcBef>
            </a:pPr>
            <a:r>
              <a:rPr sz="2800" spc="-1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2800" spc="-10" dirty="0">
                <a:solidFill>
                  <a:srgbClr val="559CD5"/>
                </a:solidFill>
                <a:latin typeface="Consolas"/>
                <a:cs typeface="Consolas"/>
              </a:rPr>
              <a:t>div</a:t>
            </a:r>
            <a:r>
              <a:rPr sz="28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800" dirty="0">
              <a:latin typeface="Consolas"/>
              <a:cs typeface="Consolas"/>
            </a:endParaRPr>
          </a:p>
          <a:p>
            <a:pPr marL="1013460">
              <a:lnSpc>
                <a:spcPct val="100000"/>
              </a:lnSpc>
              <a:spcBef>
                <a:spcPts val="660"/>
              </a:spcBef>
            </a:pP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Hello,</a:t>
            </a:r>
            <a:r>
              <a:rPr sz="2800" spc="-10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World!</a:t>
            </a:r>
            <a:endParaRPr sz="2800" dirty="0">
              <a:latin typeface="Consolas"/>
              <a:cs typeface="Consolas"/>
            </a:endParaRPr>
          </a:p>
          <a:p>
            <a:pPr marL="38100">
              <a:lnSpc>
                <a:spcPct val="100000"/>
              </a:lnSpc>
              <a:spcBef>
                <a:spcPts val="675"/>
              </a:spcBef>
            </a:pPr>
            <a:r>
              <a:rPr sz="28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2800" spc="-10" dirty="0">
                <a:solidFill>
                  <a:srgbClr val="559CD5"/>
                </a:solidFill>
                <a:latin typeface="Consolas"/>
                <a:cs typeface="Consolas"/>
              </a:rPr>
              <a:t>div</a:t>
            </a:r>
            <a:r>
              <a:rPr sz="28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2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sz="2800" dirty="0">
              <a:latin typeface="Consolas"/>
              <a:cs typeface="Consolas"/>
            </a:endParaRPr>
          </a:p>
          <a:p>
            <a:pPr marL="3159760">
              <a:lnSpc>
                <a:spcPct val="100000"/>
              </a:lnSpc>
            </a:pPr>
            <a:r>
              <a:rPr sz="2800" dirty="0">
                <a:solidFill>
                  <a:srgbClr val="D6B97C"/>
                </a:solidFill>
                <a:latin typeface="Consolas"/>
                <a:cs typeface="Consolas"/>
              </a:rPr>
              <a:t>div</a:t>
            </a:r>
            <a:r>
              <a:rPr sz="2800" spc="-65" dirty="0">
                <a:solidFill>
                  <a:srgbClr val="D6B97C"/>
                </a:solidFill>
                <a:latin typeface="Consolas"/>
                <a:cs typeface="Consolas"/>
              </a:rPr>
              <a:t> </a:t>
            </a: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2800" dirty="0">
              <a:latin typeface="Consolas"/>
              <a:cs typeface="Consolas"/>
            </a:endParaRPr>
          </a:p>
          <a:p>
            <a:pPr marL="3940175">
              <a:lnSpc>
                <a:spcPct val="100000"/>
              </a:lnSpc>
              <a:spcBef>
                <a:spcPts val="660"/>
              </a:spcBef>
            </a:pPr>
            <a:r>
              <a:rPr sz="2800" spc="-10" dirty="0">
                <a:solidFill>
                  <a:srgbClr val="9CDCFD"/>
                </a:solidFill>
                <a:latin typeface="Consolas"/>
                <a:cs typeface="Consolas"/>
              </a:rPr>
              <a:t>background-</a:t>
            </a: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color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:</a:t>
            </a:r>
            <a:r>
              <a:rPr sz="2800" spc="3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CE9178"/>
                </a:solidFill>
                <a:latin typeface="Consolas"/>
                <a:cs typeface="Consolas"/>
              </a:rPr>
              <a:t>orange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r>
              <a:rPr sz="2800" spc="-894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b="1" spc="-20" dirty="0">
                <a:solidFill>
                  <a:srgbClr val="7E7E7E"/>
                </a:solidFill>
                <a:latin typeface="Calibri"/>
                <a:cs typeface="Calibri"/>
              </a:rPr>
              <a:t>&lt;!-</a:t>
            </a:r>
            <a:r>
              <a:rPr sz="2800" b="1" dirty="0">
                <a:solidFill>
                  <a:srgbClr val="7E7E7E"/>
                </a:solidFill>
                <a:latin typeface="Calibri"/>
                <a:cs typeface="Calibri"/>
              </a:rPr>
              <a:t>-</a:t>
            </a:r>
            <a:r>
              <a:rPr sz="2800" b="1" spc="50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7E7E7E"/>
                </a:solidFill>
                <a:latin typeface="Calibri"/>
                <a:cs typeface="Calibri"/>
              </a:rPr>
              <a:t>blue</a:t>
            </a:r>
            <a:r>
              <a:rPr sz="2800" b="1" spc="25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2800" b="1" spc="-20" dirty="0">
                <a:solidFill>
                  <a:srgbClr val="7E7E7E"/>
                </a:solidFill>
                <a:latin typeface="Calibri"/>
                <a:cs typeface="Calibri"/>
              </a:rPr>
              <a:t>--</a:t>
            </a:r>
            <a:r>
              <a:rPr sz="2800" b="1" spc="-50" dirty="0">
                <a:solidFill>
                  <a:srgbClr val="7E7E7E"/>
                </a:solidFill>
                <a:latin typeface="Calibri"/>
                <a:cs typeface="Calibri"/>
              </a:rPr>
              <a:t>&gt;</a:t>
            </a:r>
            <a:endParaRPr sz="2800" dirty="0">
              <a:latin typeface="Calibri"/>
              <a:cs typeface="Calibri"/>
            </a:endParaRPr>
          </a:p>
          <a:p>
            <a:pPr marL="3940175" marR="1953260">
              <a:lnSpc>
                <a:spcPct val="119700"/>
              </a:lnSpc>
              <a:spcBef>
                <a:spcPts val="15"/>
              </a:spcBef>
            </a:pP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width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:</a:t>
            </a:r>
            <a:r>
              <a:rPr sz="2800" spc="-13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25" dirty="0">
                <a:solidFill>
                  <a:srgbClr val="B5CEA8"/>
                </a:solidFill>
                <a:latin typeface="Consolas"/>
                <a:cs typeface="Consolas"/>
              </a:rPr>
              <a:t>200px</a:t>
            </a:r>
            <a:r>
              <a:rPr sz="2800" spc="-25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r>
              <a:rPr sz="2800" spc="-65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4200" b="1" baseline="-5952" dirty="0">
                <a:solidFill>
                  <a:srgbClr val="7E7E7E"/>
                </a:solidFill>
                <a:latin typeface="Calibri"/>
                <a:cs typeface="Calibri"/>
              </a:rPr>
              <a:t>&lt;!–</a:t>
            </a:r>
            <a:r>
              <a:rPr sz="4200" b="1" spc="-37" baseline="-5952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4200" b="1" baseline="-5952" dirty="0">
                <a:solidFill>
                  <a:srgbClr val="7E7E7E"/>
                </a:solidFill>
                <a:latin typeface="Calibri"/>
                <a:cs typeface="Calibri"/>
              </a:rPr>
              <a:t>100px </a:t>
            </a:r>
            <a:r>
              <a:rPr sz="4200" b="1" spc="-30" baseline="-5952" dirty="0">
                <a:solidFill>
                  <a:srgbClr val="7E7E7E"/>
                </a:solidFill>
                <a:latin typeface="Calibri"/>
                <a:cs typeface="Calibri"/>
              </a:rPr>
              <a:t>-</a:t>
            </a:r>
            <a:r>
              <a:rPr sz="4200" b="1" spc="-37" baseline="-5952" dirty="0">
                <a:solidFill>
                  <a:srgbClr val="7E7E7E"/>
                </a:solidFill>
                <a:latin typeface="Calibri"/>
                <a:cs typeface="Calibri"/>
              </a:rPr>
              <a:t>-</a:t>
            </a:r>
            <a:r>
              <a:rPr sz="4200" b="1" spc="-75" baseline="-5952" dirty="0">
                <a:solidFill>
                  <a:srgbClr val="7E7E7E"/>
                </a:solidFill>
                <a:latin typeface="Calibri"/>
                <a:cs typeface="Calibri"/>
              </a:rPr>
              <a:t>&gt; </a:t>
            </a: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height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:</a:t>
            </a:r>
            <a:r>
              <a:rPr sz="2800" spc="-15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20" dirty="0">
                <a:solidFill>
                  <a:srgbClr val="B5CEA8"/>
                </a:solidFill>
                <a:latin typeface="Consolas"/>
                <a:cs typeface="Consolas"/>
              </a:rPr>
              <a:t>200px</a:t>
            </a:r>
            <a:r>
              <a:rPr sz="2800" spc="-20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r>
              <a:rPr sz="2800" spc="-7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4200" b="1" baseline="-6944" dirty="0">
                <a:solidFill>
                  <a:srgbClr val="7E7E7E"/>
                </a:solidFill>
                <a:latin typeface="Calibri"/>
                <a:cs typeface="Calibri"/>
              </a:rPr>
              <a:t>&lt;!–</a:t>
            </a:r>
            <a:r>
              <a:rPr sz="4200" b="1" spc="-44" baseline="-6944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4200" b="1" baseline="-6944" dirty="0">
                <a:solidFill>
                  <a:srgbClr val="7E7E7E"/>
                </a:solidFill>
                <a:latin typeface="Calibri"/>
                <a:cs typeface="Calibri"/>
              </a:rPr>
              <a:t>400px</a:t>
            </a:r>
            <a:r>
              <a:rPr sz="4200" b="1" spc="-7" baseline="-6944" dirty="0">
                <a:solidFill>
                  <a:srgbClr val="7E7E7E"/>
                </a:solidFill>
                <a:latin typeface="Calibri"/>
                <a:cs typeface="Calibri"/>
              </a:rPr>
              <a:t> </a:t>
            </a:r>
            <a:r>
              <a:rPr sz="4200" b="1" spc="-30" baseline="-6944" dirty="0">
                <a:solidFill>
                  <a:srgbClr val="7E7E7E"/>
                </a:solidFill>
                <a:latin typeface="Calibri"/>
                <a:cs typeface="Calibri"/>
              </a:rPr>
              <a:t>--</a:t>
            </a:r>
            <a:r>
              <a:rPr sz="4200" b="1" spc="-75" baseline="-6944" dirty="0">
                <a:solidFill>
                  <a:srgbClr val="7E7E7E"/>
                </a:solidFill>
                <a:latin typeface="Calibri"/>
                <a:cs typeface="Calibri"/>
              </a:rPr>
              <a:t>&gt; </a:t>
            </a: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padding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:</a:t>
            </a:r>
            <a:r>
              <a:rPr sz="2800" spc="-13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20" dirty="0">
                <a:solidFill>
                  <a:srgbClr val="B5CEA8"/>
                </a:solidFill>
                <a:latin typeface="Consolas"/>
                <a:cs typeface="Consolas"/>
              </a:rPr>
              <a:t>20px</a:t>
            </a:r>
            <a:r>
              <a:rPr sz="2800" spc="-20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endParaRPr sz="2800" dirty="0">
              <a:latin typeface="Consolas"/>
              <a:cs typeface="Consolas"/>
            </a:endParaRPr>
          </a:p>
          <a:p>
            <a:pPr marL="3940175">
              <a:lnSpc>
                <a:spcPct val="100000"/>
              </a:lnSpc>
              <a:spcBef>
                <a:spcPts val="670"/>
              </a:spcBef>
            </a:pP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margin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:</a:t>
            </a:r>
            <a:r>
              <a:rPr sz="2800" spc="-114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20" dirty="0">
                <a:solidFill>
                  <a:srgbClr val="B5CEA8"/>
                </a:solidFill>
                <a:latin typeface="Consolas"/>
                <a:cs typeface="Consolas"/>
              </a:rPr>
              <a:t>20px</a:t>
            </a:r>
            <a:r>
              <a:rPr sz="2800" spc="-20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endParaRPr sz="2800" dirty="0">
              <a:latin typeface="Consolas"/>
              <a:cs typeface="Consolas"/>
            </a:endParaRPr>
          </a:p>
          <a:p>
            <a:pPr marL="3940175">
              <a:lnSpc>
                <a:spcPct val="100000"/>
              </a:lnSpc>
              <a:spcBef>
                <a:spcPts val="665"/>
              </a:spcBef>
            </a:pP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border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:</a:t>
            </a:r>
            <a:r>
              <a:rPr sz="2800" spc="-15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B5CEA8"/>
                </a:solidFill>
                <a:latin typeface="Consolas"/>
                <a:cs typeface="Consolas"/>
              </a:rPr>
              <a:t>3px</a:t>
            </a:r>
            <a:r>
              <a:rPr sz="2800" spc="-5" dirty="0">
                <a:solidFill>
                  <a:srgbClr val="B5CEA8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CE9178"/>
                </a:solidFill>
                <a:latin typeface="Consolas"/>
                <a:cs typeface="Consolas"/>
              </a:rPr>
              <a:t>dashed</a:t>
            </a:r>
            <a:r>
              <a:rPr sz="2800" spc="-15" dirty="0">
                <a:solidFill>
                  <a:srgbClr val="CE9178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CE9178"/>
                </a:solidFill>
                <a:latin typeface="Consolas"/>
                <a:cs typeface="Consolas"/>
              </a:rPr>
              <a:t>black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endParaRPr sz="2800" dirty="0">
              <a:latin typeface="Consolas"/>
              <a:cs typeface="Consolas"/>
            </a:endParaRPr>
          </a:p>
          <a:p>
            <a:pPr marL="3159760">
              <a:lnSpc>
                <a:spcPct val="100000"/>
              </a:lnSpc>
              <a:spcBef>
                <a:spcPts val="660"/>
              </a:spcBef>
            </a:pP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ID,</a:t>
            </a:r>
            <a:r>
              <a:rPr spc="-155" dirty="0"/>
              <a:t> </a:t>
            </a:r>
            <a:r>
              <a:rPr spc="-10" dirty="0"/>
              <a:t>class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77949"/>
            <a:ext cx="9673590" cy="4344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3600" spc="-1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36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3600" dirty="0">
              <a:latin typeface="Consolas"/>
              <a:cs typeface="Consolas"/>
            </a:endParaRPr>
          </a:p>
          <a:p>
            <a:pPr marL="2388870">
              <a:lnSpc>
                <a:spcPct val="100000"/>
              </a:lnSpc>
              <a:spcBef>
                <a:spcPts val="75"/>
              </a:spcBef>
            </a:pPr>
            <a:r>
              <a:rPr sz="3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3600" dirty="0">
                <a:solidFill>
                  <a:srgbClr val="559CD5"/>
                </a:solidFill>
                <a:latin typeface="Consolas"/>
                <a:cs typeface="Consolas"/>
              </a:rPr>
              <a:t>h1</a:t>
            </a:r>
            <a:r>
              <a:rPr sz="3600" spc="-2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3600" spc="-10" dirty="0">
                <a:solidFill>
                  <a:srgbClr val="9CDCFD"/>
                </a:solidFill>
                <a:latin typeface="Consolas"/>
                <a:cs typeface="Consolas"/>
              </a:rPr>
              <a:t>id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600" spc="-10" dirty="0">
                <a:solidFill>
                  <a:srgbClr val="CE9178"/>
                </a:solidFill>
                <a:latin typeface="Consolas"/>
                <a:cs typeface="Consolas"/>
              </a:rPr>
              <a:t>"foo"</a:t>
            </a:r>
            <a:r>
              <a:rPr sz="36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Heading1</a:t>
            </a:r>
            <a:r>
              <a:rPr sz="36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3600" spc="-10" dirty="0">
                <a:solidFill>
                  <a:srgbClr val="559CD5"/>
                </a:solidFill>
                <a:latin typeface="Consolas"/>
                <a:cs typeface="Consolas"/>
              </a:rPr>
              <a:t>h1</a:t>
            </a:r>
            <a:r>
              <a:rPr sz="36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3600" dirty="0">
              <a:latin typeface="Consolas"/>
              <a:cs typeface="Consolas"/>
            </a:endParaRPr>
          </a:p>
          <a:p>
            <a:pPr marL="2388870">
              <a:lnSpc>
                <a:spcPct val="100000"/>
              </a:lnSpc>
              <a:spcBef>
                <a:spcPts val="60"/>
              </a:spcBef>
            </a:pPr>
            <a:r>
              <a:rPr sz="3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3600" dirty="0">
                <a:solidFill>
                  <a:srgbClr val="559CD5"/>
                </a:solidFill>
                <a:latin typeface="Consolas"/>
                <a:cs typeface="Consolas"/>
              </a:rPr>
              <a:t>h1</a:t>
            </a:r>
            <a:r>
              <a:rPr sz="3600" spc="-2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3600" spc="-10" dirty="0">
                <a:solidFill>
                  <a:srgbClr val="9CDCFD"/>
                </a:solidFill>
                <a:latin typeface="Consolas"/>
                <a:cs typeface="Consolas"/>
              </a:rPr>
              <a:t>id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600" spc="-10" dirty="0">
                <a:solidFill>
                  <a:srgbClr val="CE9178"/>
                </a:solidFill>
                <a:latin typeface="Consolas"/>
                <a:cs typeface="Consolas"/>
              </a:rPr>
              <a:t>"bar"</a:t>
            </a:r>
            <a:r>
              <a:rPr sz="36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Heading2</a:t>
            </a:r>
            <a:r>
              <a:rPr sz="36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3600" spc="-10" dirty="0">
                <a:solidFill>
                  <a:srgbClr val="559CD5"/>
                </a:solidFill>
                <a:latin typeface="Consolas"/>
                <a:cs typeface="Consolas"/>
              </a:rPr>
              <a:t>h1</a:t>
            </a:r>
            <a:r>
              <a:rPr sz="36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3600" dirty="0">
              <a:latin typeface="Consolas"/>
              <a:cs typeface="Consolas"/>
            </a:endParaRPr>
          </a:p>
          <a:p>
            <a:pPr marL="2388870">
              <a:lnSpc>
                <a:spcPct val="100000"/>
              </a:lnSpc>
              <a:spcBef>
                <a:spcPts val="75"/>
              </a:spcBef>
            </a:pPr>
            <a:r>
              <a:rPr sz="3600" dirty="0">
                <a:solidFill>
                  <a:srgbClr val="808080"/>
                </a:solidFill>
                <a:latin typeface="Consolas"/>
                <a:cs typeface="Consolas"/>
              </a:rPr>
              <a:t>&lt;</a:t>
            </a:r>
            <a:r>
              <a:rPr sz="3600" dirty="0">
                <a:solidFill>
                  <a:srgbClr val="559CD5"/>
                </a:solidFill>
                <a:latin typeface="Consolas"/>
                <a:cs typeface="Consolas"/>
              </a:rPr>
              <a:t>h1</a:t>
            </a:r>
            <a:r>
              <a:rPr sz="3600" spc="-35" dirty="0">
                <a:solidFill>
                  <a:srgbClr val="559CD5"/>
                </a:solidFill>
                <a:latin typeface="Consolas"/>
                <a:cs typeface="Consolas"/>
              </a:rPr>
              <a:t> </a:t>
            </a:r>
            <a:r>
              <a:rPr sz="3600" spc="-10" dirty="0">
                <a:solidFill>
                  <a:srgbClr val="9CDCFD"/>
                </a:solidFill>
                <a:latin typeface="Consolas"/>
                <a:cs typeface="Consolas"/>
              </a:rPr>
              <a:t>class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=</a:t>
            </a:r>
            <a:r>
              <a:rPr sz="3600" spc="-10" dirty="0">
                <a:solidFill>
                  <a:srgbClr val="CE9178"/>
                </a:solidFill>
                <a:latin typeface="Consolas"/>
                <a:cs typeface="Consolas"/>
              </a:rPr>
              <a:t>"baz"</a:t>
            </a:r>
            <a:r>
              <a:rPr sz="36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r>
              <a:rPr sz="3600" spc="-10" dirty="0">
                <a:solidFill>
                  <a:srgbClr val="D3D3D3"/>
                </a:solidFill>
                <a:latin typeface="Consolas"/>
                <a:cs typeface="Consolas"/>
              </a:rPr>
              <a:t>Heading3</a:t>
            </a:r>
            <a:r>
              <a:rPr sz="36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3600" spc="-10" dirty="0">
                <a:solidFill>
                  <a:srgbClr val="559CD5"/>
                </a:solidFill>
                <a:latin typeface="Consolas"/>
                <a:cs typeface="Consolas"/>
              </a:rPr>
              <a:t>h1</a:t>
            </a:r>
            <a:r>
              <a:rPr sz="36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3600" dirty="0">
              <a:latin typeface="Consolas"/>
              <a:cs typeface="Consolas"/>
            </a:endParaRPr>
          </a:p>
          <a:p>
            <a:pPr marL="1384300">
              <a:lnSpc>
                <a:spcPct val="100000"/>
              </a:lnSpc>
              <a:spcBef>
                <a:spcPts val="70"/>
              </a:spcBef>
            </a:pPr>
            <a:r>
              <a:rPr sz="3600" spc="-10" dirty="0">
                <a:solidFill>
                  <a:srgbClr val="808080"/>
                </a:solidFill>
                <a:latin typeface="Consolas"/>
                <a:cs typeface="Consolas"/>
              </a:rPr>
              <a:t>&lt;/</a:t>
            </a:r>
            <a:r>
              <a:rPr sz="3600" spc="-10" dirty="0">
                <a:solidFill>
                  <a:srgbClr val="559CD5"/>
                </a:solidFill>
                <a:latin typeface="Consolas"/>
                <a:cs typeface="Consolas"/>
              </a:rPr>
              <a:t>body</a:t>
            </a:r>
            <a:r>
              <a:rPr sz="3600" spc="-10" dirty="0">
                <a:solidFill>
                  <a:srgbClr val="808080"/>
                </a:solidFill>
                <a:latin typeface="Consolas"/>
                <a:cs typeface="Consolas"/>
              </a:rPr>
              <a:t>&gt;</a:t>
            </a:r>
            <a:endParaRPr sz="3600" dirty="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5" dirty="0">
                <a:solidFill>
                  <a:srgbClr val="808080"/>
                </a:solidFill>
                <a:latin typeface="Consolas"/>
                <a:cs typeface="Consolas"/>
              </a:rPr>
              <a:t>#fo</a:t>
            </a:r>
            <a:endParaRPr sz="2800" dirty="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0" dirty="0">
                <a:solidFill>
                  <a:srgbClr val="808080"/>
                </a:solidFill>
                <a:latin typeface="Consolas"/>
                <a:cs typeface="Consolas"/>
              </a:rPr>
              <a:t>#bar</a:t>
            </a:r>
            <a:endParaRPr sz="2800" dirty="0">
              <a:latin typeface="Consolas"/>
              <a:cs typeface="Consolas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0" dirty="0">
                <a:solidFill>
                  <a:srgbClr val="808080"/>
                </a:solidFill>
                <a:latin typeface="Consolas"/>
                <a:cs typeface="Consolas"/>
              </a:rPr>
              <a:t>.baz</a:t>
            </a:r>
            <a:endParaRPr sz="2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</a:t>
            </a:r>
            <a:r>
              <a:rPr spc="-75" dirty="0"/>
              <a:t> </a:t>
            </a:r>
            <a:r>
              <a:rPr dirty="0"/>
              <a:t>leading</a:t>
            </a:r>
            <a:r>
              <a:rPr spc="-75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spc="-10" dirty="0"/>
              <a:t>Specificity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1731"/>
            <a:ext cx="3150870" cy="398780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800" dirty="0">
                <a:solidFill>
                  <a:srgbClr val="D6B97C"/>
                </a:solidFill>
                <a:latin typeface="Consolas"/>
                <a:cs typeface="Consolas"/>
              </a:rPr>
              <a:t>h1</a:t>
            </a:r>
            <a:r>
              <a:rPr sz="2800" spc="-45" dirty="0">
                <a:solidFill>
                  <a:srgbClr val="D6B97C"/>
                </a:solidFill>
                <a:latin typeface="Consolas"/>
                <a:cs typeface="Consolas"/>
              </a:rPr>
              <a:t> </a:t>
            </a: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2800" dirty="0">
              <a:latin typeface="Consolas"/>
              <a:cs typeface="Consolas"/>
            </a:endParaRPr>
          </a:p>
          <a:p>
            <a:pPr marL="793115">
              <a:lnSpc>
                <a:spcPct val="100000"/>
              </a:lnSpc>
              <a:spcBef>
                <a:spcPts val="665"/>
              </a:spcBef>
            </a:pP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color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:</a:t>
            </a:r>
            <a:r>
              <a:rPr sz="2800" spc="-10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20" dirty="0">
                <a:solidFill>
                  <a:srgbClr val="CE9178"/>
                </a:solidFill>
                <a:latin typeface="Consolas"/>
                <a:cs typeface="Consolas"/>
              </a:rPr>
              <a:t>red</a:t>
            </a:r>
            <a:r>
              <a:rPr sz="2800" spc="-20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endParaRPr sz="2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solidFill>
                  <a:srgbClr val="D6B97C"/>
                </a:solidFill>
                <a:latin typeface="Consolas"/>
                <a:cs typeface="Consolas"/>
              </a:rPr>
              <a:t>#foo</a:t>
            </a:r>
            <a:r>
              <a:rPr sz="2800" spc="-85" dirty="0">
                <a:solidFill>
                  <a:srgbClr val="D6B97C"/>
                </a:solidFill>
                <a:latin typeface="Consolas"/>
                <a:cs typeface="Consolas"/>
              </a:rPr>
              <a:t> </a:t>
            </a: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{</a:t>
            </a:r>
            <a:endParaRPr sz="2800" dirty="0">
              <a:latin typeface="Consolas"/>
              <a:cs typeface="Consolas"/>
            </a:endParaRPr>
          </a:p>
          <a:p>
            <a:pPr marL="793115">
              <a:lnSpc>
                <a:spcPct val="100000"/>
              </a:lnSpc>
              <a:spcBef>
                <a:spcPts val="660"/>
              </a:spcBef>
            </a:pPr>
            <a:r>
              <a:rPr sz="2800" dirty="0">
                <a:solidFill>
                  <a:srgbClr val="9CDCFD"/>
                </a:solidFill>
                <a:latin typeface="Consolas"/>
                <a:cs typeface="Consolas"/>
              </a:rPr>
              <a:t>color</a:t>
            </a:r>
            <a:r>
              <a:rPr sz="2800" dirty="0">
                <a:solidFill>
                  <a:srgbClr val="D3D3D3"/>
                </a:solidFill>
                <a:latin typeface="Consolas"/>
                <a:cs typeface="Consolas"/>
              </a:rPr>
              <a:t>:</a:t>
            </a:r>
            <a:r>
              <a:rPr sz="2800" spc="-100" dirty="0">
                <a:solidFill>
                  <a:srgbClr val="D3D3D3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CE9178"/>
                </a:solidFill>
                <a:latin typeface="Consolas"/>
                <a:cs typeface="Consolas"/>
              </a:rPr>
              <a:t>blue</a:t>
            </a:r>
            <a:r>
              <a:rPr sz="2800" spc="-10" dirty="0">
                <a:solidFill>
                  <a:srgbClr val="D3D3D3"/>
                </a:solidFill>
                <a:latin typeface="Consolas"/>
                <a:cs typeface="Consolas"/>
              </a:rPr>
              <a:t>;</a:t>
            </a:r>
            <a:endParaRPr sz="2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415"/>
              </a:spcBef>
            </a:pPr>
            <a:endParaRPr sz="28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800" spc="-50" dirty="0">
                <a:solidFill>
                  <a:srgbClr val="D3D3D3"/>
                </a:solidFill>
                <a:latin typeface="Consolas"/>
                <a:cs typeface="Consolas"/>
              </a:rPr>
              <a:t>}</a:t>
            </a:r>
            <a:endParaRPr sz="2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latin typeface="Calibri"/>
                <a:cs typeface="Calibri"/>
              </a:rPr>
              <a:t>Specificity </a:t>
            </a:r>
            <a:r>
              <a:rPr sz="5400" b="1" spc="-10" dirty="0">
                <a:latin typeface="Calibri"/>
                <a:cs typeface="Calibri"/>
              </a:rPr>
              <a:t>(Precedence)</a:t>
            </a:r>
            <a:endParaRPr sz="5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1332865" cy="207200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775"/>
              </a:spcBef>
              <a:buAutoNum type="arabicPeriod"/>
              <a:tabLst>
                <a:tab pos="527685" algn="l"/>
              </a:tabLst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inline</a:t>
            </a:r>
            <a:endParaRPr sz="2800" dirty="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</a:tabLst>
            </a:pP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id</a:t>
            </a:r>
            <a:endParaRPr sz="2800" dirty="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27685" algn="l"/>
              </a:tabLst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class</a:t>
            </a:r>
            <a:endParaRPr sz="2800" dirty="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660"/>
              </a:spcBef>
              <a:buAutoNum type="arabicPeriod"/>
              <a:tabLst>
                <a:tab pos="527685" algn="l"/>
              </a:tabLst>
            </a:pP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10" dirty="0">
                <a:latin typeface="Calibri"/>
                <a:cs typeface="Calibri"/>
              </a:rPr>
              <a:t>Specificity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452604"/>
            <a:ext cx="2560955" cy="147764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2600" dirty="0">
                <a:solidFill>
                  <a:srgbClr val="FFFFFF"/>
                </a:solidFill>
                <a:latin typeface="Consolas"/>
                <a:cs typeface="Consolas"/>
              </a:rPr>
              <a:t>&lt;div</a:t>
            </a:r>
            <a:r>
              <a:rPr sz="2600" spc="-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olas"/>
                <a:cs typeface="Consolas"/>
              </a:rPr>
              <a:t>id="foo"&gt;</a:t>
            </a:r>
            <a:endParaRPr sz="2600" dirty="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695"/>
              </a:spcBef>
            </a:pPr>
            <a:r>
              <a:rPr sz="2600" spc="-10" dirty="0">
                <a:solidFill>
                  <a:srgbClr val="FFFFFF"/>
                </a:solidFill>
                <a:latin typeface="Consolas"/>
                <a:cs typeface="Consolas"/>
              </a:rPr>
              <a:t>Hello!</a:t>
            </a:r>
            <a:endParaRPr sz="2600" dirty="0">
              <a:latin typeface="Consolas"/>
              <a:cs typeface="Consolas"/>
            </a:endParaRPr>
          </a:p>
          <a:p>
            <a:pPr marL="193675">
              <a:lnSpc>
                <a:spcPct val="100000"/>
              </a:lnSpc>
              <a:spcBef>
                <a:spcPts val="690"/>
              </a:spcBef>
            </a:pPr>
            <a:r>
              <a:rPr sz="2600" spc="-10" dirty="0">
                <a:solidFill>
                  <a:srgbClr val="FFFFFF"/>
                </a:solidFill>
                <a:latin typeface="Consolas"/>
                <a:cs typeface="Consolas"/>
              </a:rPr>
              <a:t>&lt;/div&gt;</a:t>
            </a:r>
            <a:endParaRPr sz="2600" dirty="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475431"/>
            <a:ext cx="93345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FFFFFF"/>
                </a:solidFill>
                <a:latin typeface="Consolas"/>
                <a:cs typeface="Consolas"/>
              </a:rPr>
              <a:t>div</a:t>
            </a:r>
            <a:r>
              <a:rPr sz="2600" spc="-2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600" spc="-50" dirty="0">
                <a:solidFill>
                  <a:srgbClr val="FFFFFF"/>
                </a:solidFill>
                <a:latin typeface="Consolas"/>
                <a:cs typeface="Consolas"/>
              </a:rPr>
              <a:t>{</a:t>
            </a:r>
            <a:endParaRPr sz="2600" dirty="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8296" y="3872839"/>
            <a:ext cx="2933700" cy="991869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745490">
              <a:lnSpc>
                <a:spcPct val="100000"/>
              </a:lnSpc>
              <a:spcBef>
                <a:spcPts val="780"/>
              </a:spcBef>
            </a:pPr>
            <a:r>
              <a:rPr sz="2600" dirty="0">
                <a:solidFill>
                  <a:srgbClr val="FFFFFF"/>
                </a:solidFill>
                <a:latin typeface="Consolas"/>
                <a:cs typeface="Consolas"/>
              </a:rPr>
              <a:t>color:</a:t>
            </a:r>
            <a:r>
              <a:rPr sz="260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olas"/>
                <a:cs typeface="Consolas"/>
              </a:rPr>
              <a:t>blue;</a:t>
            </a:r>
            <a:endParaRPr sz="260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600" spc="-50" dirty="0">
                <a:solidFill>
                  <a:srgbClr val="FFFFFF"/>
                </a:solidFill>
                <a:latin typeface="Consolas"/>
                <a:cs typeface="Consolas"/>
              </a:rPr>
              <a:t>}</a:t>
            </a:r>
            <a:endParaRPr sz="2600" dirty="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60311" y="2830779"/>
            <a:ext cx="188150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>
                <a:solidFill>
                  <a:srgbClr val="2D75B6"/>
                </a:solidFill>
                <a:latin typeface="Calibri"/>
                <a:cs typeface="Calibri"/>
              </a:rPr>
              <a:t>Hello!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2940" y="2971800"/>
            <a:ext cx="393192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381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10" dirty="0">
                <a:latin typeface="Calibri"/>
                <a:cs typeface="Calibri"/>
              </a:rPr>
              <a:t>Specificity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459839"/>
            <a:ext cx="2560955" cy="135763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600" dirty="0">
                <a:solidFill>
                  <a:srgbClr val="FFFFFF"/>
                </a:solidFill>
                <a:latin typeface="Consolas"/>
                <a:cs typeface="Consolas"/>
              </a:rPr>
              <a:t>&lt;div</a:t>
            </a:r>
            <a:r>
              <a:rPr sz="2600" spc="-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olas"/>
                <a:cs typeface="Consolas"/>
              </a:rPr>
              <a:t>id="foo"&gt;</a:t>
            </a:r>
            <a:endParaRPr sz="26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370"/>
              </a:spcBef>
            </a:pPr>
            <a:r>
              <a:rPr sz="2600" spc="-10" dirty="0">
                <a:solidFill>
                  <a:srgbClr val="FFFFFF"/>
                </a:solidFill>
                <a:latin typeface="Consolas"/>
                <a:cs typeface="Consolas"/>
              </a:rPr>
              <a:t>Hello!</a:t>
            </a:r>
            <a:endParaRPr sz="2600">
              <a:latin typeface="Consolas"/>
              <a:cs typeface="Consolas"/>
            </a:endParaRPr>
          </a:p>
          <a:p>
            <a:pPr marL="193675">
              <a:lnSpc>
                <a:spcPct val="100000"/>
              </a:lnSpc>
              <a:spcBef>
                <a:spcPts val="390"/>
              </a:spcBef>
            </a:pPr>
            <a:r>
              <a:rPr sz="2600" spc="-10" dirty="0">
                <a:solidFill>
                  <a:srgbClr val="FFFFFF"/>
                </a:solidFill>
                <a:latin typeface="Consolas"/>
                <a:cs typeface="Consolas"/>
              </a:rPr>
              <a:t>&lt;/div&gt;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282188"/>
            <a:ext cx="93281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solidFill>
                  <a:srgbClr val="FFFFFF"/>
                </a:solidFill>
                <a:latin typeface="Consolas"/>
                <a:cs typeface="Consolas"/>
              </a:rPr>
              <a:t>div</a:t>
            </a:r>
            <a:r>
              <a:rPr sz="2600" spc="-1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600" spc="-50" dirty="0">
                <a:solidFill>
                  <a:srgbClr val="FFFFFF"/>
                </a:solidFill>
                <a:latin typeface="Consolas"/>
                <a:cs typeface="Consolas"/>
              </a:rPr>
              <a:t>{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3680815"/>
            <a:ext cx="3115310" cy="224472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470"/>
              </a:spcBef>
            </a:pPr>
            <a:r>
              <a:rPr sz="2600" dirty="0">
                <a:solidFill>
                  <a:srgbClr val="FFFFFF"/>
                </a:solidFill>
                <a:latin typeface="Consolas"/>
                <a:cs typeface="Consolas"/>
              </a:rPr>
              <a:t>color:</a:t>
            </a:r>
            <a:r>
              <a:rPr sz="260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olas"/>
                <a:cs typeface="Consolas"/>
              </a:rPr>
              <a:t>blue;</a:t>
            </a:r>
            <a:endParaRPr sz="2600">
              <a:latin typeface="Consolas"/>
              <a:cs typeface="Consolas"/>
            </a:endParaRPr>
          </a:p>
          <a:p>
            <a:pPr marL="193675">
              <a:lnSpc>
                <a:spcPct val="100000"/>
              </a:lnSpc>
              <a:spcBef>
                <a:spcPts val="370"/>
              </a:spcBef>
            </a:pPr>
            <a:r>
              <a:rPr sz="2600" spc="-50" dirty="0">
                <a:solidFill>
                  <a:srgbClr val="FFFFFF"/>
                </a:solidFill>
                <a:latin typeface="Consolas"/>
                <a:cs typeface="Consolas"/>
              </a:rPr>
              <a:t>}</a:t>
            </a:r>
            <a:endParaRPr sz="2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600" dirty="0">
                <a:solidFill>
                  <a:srgbClr val="FFFFFF"/>
                </a:solidFill>
                <a:latin typeface="Consolas"/>
                <a:cs typeface="Consolas"/>
              </a:rPr>
              <a:t>#foo</a:t>
            </a:r>
            <a:r>
              <a:rPr sz="2600" spc="-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600" spc="-50" dirty="0">
                <a:solidFill>
                  <a:srgbClr val="FFFFFF"/>
                </a:solidFill>
                <a:latin typeface="Consolas"/>
                <a:cs typeface="Consolas"/>
              </a:rPr>
              <a:t>{</a:t>
            </a:r>
            <a:endParaRPr sz="26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385"/>
              </a:spcBef>
            </a:pPr>
            <a:r>
              <a:rPr sz="2600" dirty="0">
                <a:solidFill>
                  <a:srgbClr val="FFFFFF"/>
                </a:solidFill>
                <a:latin typeface="Consolas"/>
                <a:cs typeface="Consolas"/>
              </a:rPr>
              <a:t>color:</a:t>
            </a:r>
            <a:r>
              <a:rPr sz="260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olas"/>
                <a:cs typeface="Consolas"/>
              </a:rPr>
              <a:t>red;</a:t>
            </a:r>
            <a:endParaRPr sz="2600">
              <a:latin typeface="Consolas"/>
              <a:cs typeface="Consolas"/>
            </a:endParaRPr>
          </a:p>
          <a:p>
            <a:pPr marL="193675">
              <a:lnSpc>
                <a:spcPct val="100000"/>
              </a:lnSpc>
              <a:spcBef>
                <a:spcPts val="375"/>
              </a:spcBef>
            </a:pPr>
            <a:r>
              <a:rPr sz="2600" spc="-50" dirty="0">
                <a:solidFill>
                  <a:srgbClr val="FFFFFF"/>
                </a:solidFill>
                <a:latin typeface="Consolas"/>
                <a:cs typeface="Consolas"/>
              </a:rPr>
              <a:t>}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60311" y="2830779"/>
            <a:ext cx="188150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>
                <a:solidFill>
                  <a:srgbClr val="FF0000"/>
                </a:solidFill>
                <a:latin typeface="Calibri"/>
                <a:cs typeface="Calibri"/>
              </a:rPr>
              <a:t>Hello!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2940" y="2971800"/>
            <a:ext cx="393192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381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10" dirty="0">
                <a:latin typeface="Calibri"/>
                <a:cs typeface="Calibri"/>
              </a:rPr>
              <a:t>Specificity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459839"/>
            <a:ext cx="2560955" cy="135763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600" dirty="0">
                <a:solidFill>
                  <a:srgbClr val="FFFFFF"/>
                </a:solidFill>
                <a:latin typeface="Consolas"/>
                <a:cs typeface="Consolas"/>
              </a:rPr>
              <a:t>&lt;div</a:t>
            </a:r>
            <a:r>
              <a:rPr sz="2600" spc="-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olas"/>
                <a:cs typeface="Consolas"/>
              </a:rPr>
              <a:t>id="foo"&gt;</a:t>
            </a:r>
            <a:endParaRPr sz="26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370"/>
              </a:spcBef>
            </a:pPr>
            <a:r>
              <a:rPr sz="2600" spc="-10" dirty="0">
                <a:solidFill>
                  <a:srgbClr val="FFFFFF"/>
                </a:solidFill>
                <a:latin typeface="Consolas"/>
                <a:cs typeface="Consolas"/>
              </a:rPr>
              <a:t>Hello!</a:t>
            </a:r>
            <a:endParaRPr sz="2600">
              <a:latin typeface="Consolas"/>
              <a:cs typeface="Consolas"/>
            </a:endParaRPr>
          </a:p>
          <a:p>
            <a:pPr marL="193675">
              <a:lnSpc>
                <a:spcPct val="100000"/>
              </a:lnSpc>
              <a:spcBef>
                <a:spcPts val="390"/>
              </a:spcBef>
            </a:pPr>
            <a:r>
              <a:rPr sz="2600" spc="-10" dirty="0">
                <a:solidFill>
                  <a:srgbClr val="FFFFFF"/>
                </a:solidFill>
                <a:latin typeface="Consolas"/>
                <a:cs typeface="Consolas"/>
              </a:rPr>
              <a:t>&lt;/div&gt;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233775"/>
            <a:ext cx="3115310" cy="269176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600" dirty="0">
                <a:solidFill>
                  <a:srgbClr val="FFFFFF"/>
                </a:solidFill>
                <a:latin typeface="Consolas"/>
                <a:cs typeface="Consolas"/>
              </a:rPr>
              <a:t>#foo</a:t>
            </a:r>
            <a:r>
              <a:rPr sz="2600" spc="-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600" spc="-50" dirty="0">
                <a:solidFill>
                  <a:srgbClr val="FFFFFF"/>
                </a:solidFill>
                <a:latin typeface="Consolas"/>
                <a:cs typeface="Consolas"/>
              </a:rPr>
              <a:t>{</a:t>
            </a:r>
            <a:endParaRPr sz="26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385"/>
              </a:spcBef>
            </a:pPr>
            <a:r>
              <a:rPr sz="2600" dirty="0">
                <a:solidFill>
                  <a:srgbClr val="FFFFFF"/>
                </a:solidFill>
                <a:latin typeface="Consolas"/>
                <a:cs typeface="Consolas"/>
              </a:rPr>
              <a:t>color:</a:t>
            </a:r>
            <a:r>
              <a:rPr sz="260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600" spc="-20" dirty="0">
                <a:solidFill>
                  <a:srgbClr val="FFFFFF"/>
                </a:solidFill>
                <a:latin typeface="Consolas"/>
                <a:cs typeface="Consolas"/>
              </a:rPr>
              <a:t>red;</a:t>
            </a:r>
            <a:endParaRPr sz="2600">
              <a:latin typeface="Consolas"/>
              <a:cs typeface="Consolas"/>
            </a:endParaRPr>
          </a:p>
          <a:p>
            <a:pPr marL="193675">
              <a:lnSpc>
                <a:spcPct val="100000"/>
              </a:lnSpc>
              <a:spcBef>
                <a:spcPts val="370"/>
              </a:spcBef>
            </a:pPr>
            <a:r>
              <a:rPr sz="2600" spc="-50" dirty="0">
                <a:solidFill>
                  <a:srgbClr val="FFFFFF"/>
                </a:solidFill>
                <a:latin typeface="Consolas"/>
                <a:cs typeface="Consolas"/>
              </a:rPr>
              <a:t>}</a:t>
            </a:r>
            <a:endParaRPr sz="2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600" dirty="0">
                <a:solidFill>
                  <a:srgbClr val="FFFFFF"/>
                </a:solidFill>
                <a:latin typeface="Consolas"/>
                <a:cs typeface="Consolas"/>
              </a:rPr>
              <a:t>div</a:t>
            </a:r>
            <a:r>
              <a:rPr sz="2600" spc="-1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600" spc="-50" dirty="0">
                <a:solidFill>
                  <a:srgbClr val="FFFFFF"/>
                </a:solidFill>
                <a:latin typeface="Consolas"/>
                <a:cs typeface="Consolas"/>
              </a:rPr>
              <a:t>{</a:t>
            </a:r>
            <a:endParaRPr sz="260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385"/>
              </a:spcBef>
            </a:pPr>
            <a:r>
              <a:rPr sz="2600" dirty="0">
                <a:solidFill>
                  <a:srgbClr val="FFFFFF"/>
                </a:solidFill>
                <a:latin typeface="Consolas"/>
                <a:cs typeface="Consolas"/>
              </a:rPr>
              <a:t>color:</a:t>
            </a:r>
            <a:r>
              <a:rPr sz="260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2600" spc="-10" dirty="0">
                <a:solidFill>
                  <a:srgbClr val="FFFFFF"/>
                </a:solidFill>
                <a:latin typeface="Consolas"/>
                <a:cs typeface="Consolas"/>
              </a:rPr>
              <a:t>blue;</a:t>
            </a:r>
            <a:endParaRPr sz="2600">
              <a:latin typeface="Consolas"/>
              <a:cs typeface="Consolas"/>
            </a:endParaRPr>
          </a:p>
          <a:p>
            <a:pPr marL="193675">
              <a:lnSpc>
                <a:spcPct val="100000"/>
              </a:lnSpc>
              <a:spcBef>
                <a:spcPts val="370"/>
              </a:spcBef>
            </a:pPr>
            <a:r>
              <a:rPr sz="2600" spc="-50" dirty="0">
                <a:solidFill>
                  <a:srgbClr val="FFFFFF"/>
                </a:solidFill>
                <a:latin typeface="Consolas"/>
                <a:cs typeface="Consolas"/>
              </a:rPr>
              <a:t>}</a:t>
            </a:r>
            <a:endParaRPr sz="2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60311" y="2830779"/>
            <a:ext cx="188150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>
                <a:solidFill>
                  <a:srgbClr val="FF0000"/>
                </a:solidFill>
                <a:latin typeface="Calibri"/>
                <a:cs typeface="Calibri"/>
              </a:rPr>
              <a:t>Hello!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62940" y="2971800"/>
            <a:ext cx="3931920" cy="0"/>
          </a:xfrm>
          <a:custGeom>
            <a:avLst/>
            <a:gdLst/>
            <a:ahLst/>
            <a:cxnLst/>
            <a:rect l="l" t="t" r="r" b="b"/>
            <a:pathLst>
              <a:path w="3931920">
                <a:moveTo>
                  <a:pt x="0" y="0"/>
                </a:moveTo>
                <a:lnTo>
                  <a:pt x="3931920" y="0"/>
                </a:lnTo>
              </a:path>
            </a:pathLst>
          </a:custGeom>
          <a:ln w="38100">
            <a:solidFill>
              <a:srgbClr val="F1F1F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8733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Lesson</a:t>
            </a:r>
            <a:r>
              <a:rPr spc="-45" dirty="0"/>
              <a:t> </a:t>
            </a:r>
            <a:r>
              <a:rPr dirty="0"/>
              <a:t>Learning</a:t>
            </a:r>
            <a:r>
              <a:rPr spc="-60" dirty="0"/>
              <a:t> </a:t>
            </a:r>
            <a:r>
              <a:rPr dirty="0"/>
              <a:t>Outcome</a:t>
            </a:r>
            <a:r>
              <a:rPr spc="-40" dirty="0"/>
              <a:t> </a:t>
            </a:r>
            <a:r>
              <a:rPr spc="-10" dirty="0"/>
              <a:t>(LLOs)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4944745" cy="309435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r>
              <a:rPr sz="2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rule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Common</a:t>
            </a:r>
            <a:r>
              <a:rPr sz="2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Properties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Inline</a:t>
            </a:r>
            <a:r>
              <a:rPr sz="2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2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Internal</a:t>
            </a:r>
            <a:r>
              <a:rPr sz="2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2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External</a:t>
            </a:r>
            <a:r>
              <a:rPr sz="2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Typeface</a:t>
            </a:r>
            <a:r>
              <a:rPr sz="28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Vs</a:t>
            </a:r>
            <a:r>
              <a:rPr sz="28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Font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CSS</a:t>
            </a:r>
            <a:r>
              <a:rPr sz="2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Box</a:t>
            </a:r>
            <a:r>
              <a:rPr sz="2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Specificity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776</Words>
  <Application>Microsoft Office PowerPoint</Application>
  <PresentationFormat>Widescreen</PresentationFormat>
  <Paragraphs>165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Arial</vt:lpstr>
      <vt:lpstr>Arial MT</vt:lpstr>
      <vt:lpstr>Calibri</vt:lpstr>
      <vt:lpstr>Calibri Light</vt:lpstr>
      <vt:lpstr>Cambria</vt:lpstr>
      <vt:lpstr>Consolas</vt:lpstr>
      <vt:lpstr>Courier New</vt:lpstr>
      <vt:lpstr>Times New Roman</vt:lpstr>
      <vt:lpstr>Verdana</vt:lpstr>
      <vt:lpstr>Wingdings</vt:lpstr>
      <vt:lpstr>Office Theme</vt:lpstr>
      <vt:lpstr>Lecture # 7</vt:lpstr>
      <vt:lpstr>PowerPoint Presentation</vt:lpstr>
      <vt:lpstr>CSS Introduction</vt:lpstr>
      <vt:lpstr>CSS Syntax</vt:lpstr>
      <vt:lpstr>Common  CSS  Properties</vt:lpstr>
      <vt:lpstr>PowerPoint Presentation</vt:lpstr>
      <vt:lpstr>PowerPoint Presentation</vt:lpstr>
      <vt:lpstr>Typeface (Font Family)</vt:lpstr>
      <vt:lpstr>Typeface (Font Family)</vt:lpstr>
      <vt:lpstr>Difference Between Serif and Sans-serif</vt:lpstr>
      <vt:lpstr>Font Selection is Important</vt:lpstr>
      <vt:lpstr>CSS Box Model</vt:lpstr>
      <vt:lpstr>Table Border</vt:lpstr>
      <vt:lpstr>Identifying Elements</vt:lpstr>
      <vt:lpstr>PowerPoint Presentation</vt:lpstr>
      <vt:lpstr>ID, class</vt:lpstr>
      <vt:lpstr>Example leading to Specificity</vt:lpstr>
      <vt:lpstr>Specificity (Precedence)</vt:lpstr>
      <vt:lpstr>Specificity</vt:lpstr>
      <vt:lpstr>Specificity</vt:lpstr>
      <vt:lpstr>Specificity</vt:lpstr>
      <vt:lpstr>PowerPoint Presentation</vt:lpstr>
      <vt:lpstr>Lesson Learning Outcome (LLOs)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Saif Ijaz</dc:creator>
  <cp:lastModifiedBy>yasmeen</cp:lastModifiedBy>
  <cp:revision>3</cp:revision>
  <dcterms:created xsi:type="dcterms:W3CDTF">2025-02-27T10:41:55Z</dcterms:created>
  <dcterms:modified xsi:type="dcterms:W3CDTF">2026-02-25T02:13:55Z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2024-09-23T00:00:00Z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2025-02-27T00:00:00Z</vt:filetime>
  </property>
  <property fmtid="{D5CDD505-2E9C-101B-9397-08002B2CF9AE}" pid="5" name="Producer">
    <vt:lpwstr>Microsoft® PowerPoint® LTSC</vt:lpwstr>
  </property>
</Properties>
</file>